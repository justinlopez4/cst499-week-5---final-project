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Justin Lopez. This presentation summarizes my CST499 final software project, an Online Course Registration System. The project moved from requirements definition, to UML design, and then into a working PHP and MySQL prototype. I will review the Software Requirements Specification, the UML models, the landing, login, and registration pages, the relational database and class-registration features, and the PHP logic that connects the front end to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followed the same progression that was explored earlier in the course through the software process model concept map. The concept map compares traditional and Agile approaches, while the actual capstone work was completed incrementally across the weeks. Week 1 established the system requirements. Week 2 turned those requirements into UML models. Week 3 created the local XAMPP environment and the initial PHP pages. Week 4 extended the prototype with relational tables and schedule-management features. This progression made each new piece build on work that had already been completed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Requirements Specification was the baseline for the rest of the project. Its purpose was to define the specific needs of the Online Course Registration System before design and coding began. The primary user is a student. The SRS requires account creation, secure login, semester-based course viewing, enrollment with capacity limits, waiting-list behavior, cancellation, and notification when a seat becomes available. These requirements gave the UML models and later PHP implementation a clear target. The later prototype concentrated on the core account, registration, and schedule-management functions, while the SRS preserved the broader waitlist and notification requirements for future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requirements were organized so each major behavior could later be traced into design and testing. Requirements one through seven cover account creation, unique usernames, password creation, and login validation. Requirements eight through fourteen cover semester course listings and enrollment capacity. The next group covers the waiting list and cancellation workflow. Finally, requirements twenty-one and twenty-two require valid credentials before account access and protection of student passwords and personal information. This traceability is important because it lets the design and implementation be compared back to specific requirements rather than relying on a general idea of what the portal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UML view is represented by the use case and class diagrams. The use case diagram identifies the student as the main actor and shows the actions defined by the SRS, including account creation, login, viewing courses, enrollment, joining a waitlist, canceling enrollment, and receiving a seat-availability notification. The class diagram identifies the major information objects needed to support those behaviors: Student, Semester, Course, Enrollment, WaitlistEntry, and Notification. It also shows how those objects relate to each other. UML was useful here because it provided a visual bridge between written requirements and the structure that would eventually be represented in code and database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behavioral diagrams describe what happens as a student moves through the system. The sequence diagram follows a course request from the student interface to the enrollment service, then checks course capacity and branches to either enrollment or a waitlist option. The activity diagram provides a broader workflow from login through course selection, enrollment, waitlisting, and notification. The state diagram focuses on the student's status for one course, such as not enrolled, undergoing a capacity check, enrolled, waitlisted, notified, or canceled. Together, these models helped make the SRS behavior more concrete and also created paths that could later be used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3 implementation created the user-facing foundation of the portal. The landing page is a simple starting point with links to login or create an account. The login page asks for a username and password and later became the entry point for authenticated access. The registration page collects the information required to create a new account, including full name, email, username, password, and password confirmation. HTML defines the form structure and CSS provides a consistent dark visual design. The registration form submits information with the POST method so PHP can validate the input and send approved data to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connection was separated into a custom Database.php class. That class stores the host, username, password, and database name, then exposes a connect method that returns a MySQLi connection. This avoided repeating connection settings on every PHP page. On the registration side, PHP checks that required fields are present, validates the email address, compares the two password fields, and checks for an existing email or username. Before insertion, the password is converted to a one-way hash with password_hash. Prepared statements are used so the values are bound separately from the SQL command, which is an important protection against SQL injection attacks, as discussed by Halfond and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was expanded into a relational structure with three main tables. The users table stores account information. The courses table stores course code, course name, credit hours, and semester. The enrollments table acts as the bridge between users and courses. Its user_id and course_id fields are foreign keys that point back to the primary keys in the other two tables. This creates a many-to-many relationship: one student can take multiple courses, and one course can have multiple students. A unique combination of user and course also prevents the same student from registering for the same class twice. This design follows the relational principles introduced by Codd.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class-registration workflow uses the courses table as the source of available classes. The register_classes.php page runs a SELECT query and formats those records into an HTML table with a Register button for each course. When a student selects a course, the course ID is submitted by POST. PHP combines that value with the authenticated student's session ID and inserts the pair into the enrollments table. The screenshots show that connection clearly: the application reports a successful registration, the first enrollment record appears in phpMyAdmin, and additional selections create additional rows. This database evidence was important because it confirmed that the page was not only changing visually but was also changing the underlying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my_schedule.php page turns enrollment records into a readable student schedule. Because the enrollments table stores numeric foreign keys, an INNER JOIN is used to retrieve the matching course code, name, credits, and semester. The screenshots show the schedule first with one course and then with three after using the Add More Courses option. Dropping a course is handled by drop_course.php. The PHP code uses a prepared DELETE statement and includes both the enrollment ID and the current user's session ID. That second condition is important because it ensures the student can delete only an enrollment that belongs to the currently authenticated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prototype demonstrates how the major implementation pieces work together. Sessions preserve the authenticated student's identity across pages. The reusable Database class provides the connection needed by registration and schedule functions. Prepared INSERT and DELETE statements change the enrollments table, and phpMyAdmin provides a second way to verify those changes. By the end of Week 4, the working prototype supported account creation, login, course viewing, registration, schedule viewing, adding classes, and dropping classes. The original SRS and UML design also include a full waiting-list and seat-notification process. Those requirements remain part of the documented system design and would be the logical next extension beyond the completed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scholarly sources and the course textbook that supported the project. Ahmad and colleagues were used in the UML and model-based testing discussion, Codd supports the relational database design, Halfond and colleagues support the SQL-injection discussion, and Tsui, Karam, and Bernal is the course text used throughout the software engineering process.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111318"/>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3A7BD5"/>
          </a:solidFill>
          <a:ln w="12700">
            <a:solidFill>
              <a:srgbClr val="3A7BD5"/>
            </a:solidFill>
            <a:prstDash val="solid"/>
          </a:ln>
        </p:spPr>
      </p:sp>
      <p:sp>
        <p:nvSpPr>
          <p:cNvPr id="3" name="Text 1"/>
          <p:cNvSpPr/>
          <p:nvPr/>
        </p:nvSpPr>
        <p:spPr>
          <a:xfrm>
            <a:off x="502920" y="6519672"/>
            <a:ext cx="4389120" cy="164592"/>
          </a:xfrm>
          <a:prstGeom prst="rect">
            <a:avLst/>
          </a:prstGeom>
          <a:noFill/>
          <a:ln/>
        </p:spPr>
        <p:txBody>
          <a:bodyPr wrap="square" lIns="0" tIns="0" rIns="0" bIns="0" rtlCol="0" anchor="ctr"/>
          <a:lstStyle/>
          <a:p>
            <a:pPr indent="0" marL="0">
              <a:buNone/>
            </a:pPr>
            <a:r>
              <a:rPr lang="en-US" sz="900" dirty="0">
                <a:solidFill>
                  <a:srgbClr val="8F98A8"/>
                </a:solidFill>
                <a:latin typeface="Aptos" pitchFamily="34" charset="0"/>
                <a:ea typeface="Aptos" pitchFamily="34" charset="-122"/>
                <a:cs typeface="Aptos" pitchFamily="34" charset="-120"/>
              </a:rPr>
              <a:t>CST499 • FINAL SOFTWARE PROJECT</a:t>
            </a:r>
            <a:endParaRPr lang="en-US" sz="90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318"/>
          </a:solidFill>
          <a:ln w="12700">
            <a:solidFill>
              <a:srgbClr val="111318"/>
            </a:solidFill>
            <a:prstDash val="solid"/>
          </a:ln>
        </p:spPr>
      </p:sp>
      <p:sp>
        <p:nvSpPr>
          <p:cNvPr id="3" name="Shape 1"/>
          <p:cNvSpPr/>
          <p:nvPr/>
        </p:nvSpPr>
        <p:spPr>
          <a:xfrm>
            <a:off x="0" y="0"/>
            <a:ext cx="109728" cy="6858000"/>
          </a:xfrm>
          <a:prstGeom prst="rect">
            <a:avLst/>
          </a:prstGeom>
          <a:solidFill>
            <a:srgbClr val="3A7BD5"/>
          </a:solidFill>
          <a:ln w="12700">
            <a:solidFill>
              <a:srgbClr val="3A7BD5"/>
            </a:solidFill>
            <a:prstDash val="solid"/>
          </a:ln>
        </p:spPr>
      </p:sp>
      <p:sp>
        <p:nvSpPr>
          <p:cNvPr id="4" name="Text 2"/>
          <p:cNvSpPr/>
          <p:nvPr/>
        </p:nvSpPr>
        <p:spPr>
          <a:xfrm>
            <a:off x="658368" y="941832"/>
            <a:ext cx="5623560" cy="1325880"/>
          </a:xfrm>
          <a:prstGeom prst="rect">
            <a:avLst/>
          </a:prstGeom>
          <a:noFill/>
          <a:ln/>
        </p:spPr>
        <p:txBody>
          <a:bodyPr wrap="square" lIns="0" tIns="0" rIns="0" bIns="0" rtlCol="0" anchor="ctr"/>
          <a:lstStyle/>
          <a:p>
            <a:pPr indent="0" marL="0">
              <a:buNone/>
            </a:pPr>
            <a:r>
              <a:rPr lang="en-US" sz="3400" b="1" dirty="0">
                <a:solidFill>
                  <a:srgbClr val="F7F9FC"/>
                </a:solidFill>
                <a:latin typeface="Aptos Display" pitchFamily="34" charset="0"/>
                <a:ea typeface="Aptos Display" pitchFamily="34" charset="-122"/>
                <a:cs typeface="Aptos Display" pitchFamily="34" charset="-120"/>
              </a:rPr>
              <a:t>Online Course</a:t>
            </a:r>
            <a:endParaRPr lang="en-US" sz="3400" dirty="0"/>
          </a:p>
          <a:p>
            <a:pPr indent="0" marL="0">
              <a:buNone/>
            </a:pPr>
            <a:r>
              <a:rPr lang="en-US" sz="3400" b="1" dirty="0">
                <a:solidFill>
                  <a:srgbClr val="F7F9FC"/>
                </a:solidFill>
                <a:latin typeface="Aptos Display" pitchFamily="34" charset="0"/>
                <a:ea typeface="Aptos Display" pitchFamily="34" charset="-122"/>
                <a:cs typeface="Aptos Display" pitchFamily="34" charset="-120"/>
              </a:rPr>
              <a:t>Registration System</a:t>
            </a:r>
            <a:endParaRPr lang="en-US" sz="3400" dirty="0"/>
          </a:p>
        </p:txBody>
      </p:sp>
      <p:sp>
        <p:nvSpPr>
          <p:cNvPr id="5" name="Text 3"/>
          <p:cNvSpPr/>
          <p:nvPr/>
        </p:nvSpPr>
        <p:spPr>
          <a:xfrm>
            <a:off x="685800" y="2450592"/>
            <a:ext cx="5120640" cy="329184"/>
          </a:xfrm>
          <a:prstGeom prst="rect">
            <a:avLst/>
          </a:prstGeom>
          <a:noFill/>
          <a:ln/>
        </p:spPr>
        <p:txBody>
          <a:bodyPr wrap="square" lIns="0" tIns="0" rIns="0" bIns="0" rtlCol="0" anchor="ctr"/>
          <a:lstStyle/>
          <a:p>
            <a:pPr indent="0" marL="0">
              <a:buNone/>
            </a:pPr>
            <a:r>
              <a:rPr lang="en-US" sz="1750" b="1" dirty="0">
                <a:solidFill>
                  <a:srgbClr val="5FA8FF"/>
                </a:solidFill>
              </a:rPr>
              <a:t>Final Software Project Presentation</a:t>
            </a:r>
            <a:endParaRPr lang="en-US" sz="1750" dirty="0"/>
          </a:p>
        </p:txBody>
      </p:sp>
      <p:sp>
        <p:nvSpPr>
          <p:cNvPr id="6" name="Text 4"/>
          <p:cNvSpPr/>
          <p:nvPr/>
        </p:nvSpPr>
        <p:spPr>
          <a:xfrm>
            <a:off x="704088" y="3044952"/>
            <a:ext cx="5303520" cy="1234440"/>
          </a:xfrm>
          <a:prstGeom prst="rect">
            <a:avLst/>
          </a:prstGeom>
          <a:noFill/>
          <a:ln/>
        </p:spPr>
        <p:txBody>
          <a:bodyPr wrap="square" lIns="254" tIns="254" rIns="254" bIns="254" rtlCol="0" anchor="ctr"/>
          <a:lstStyle/>
          <a:p>
            <a:pPr indent="0" marL="0">
              <a:buNone/>
            </a:pPr>
            <a:r>
              <a:rPr lang="en-US" sz="1600" dirty="0">
                <a:solidFill>
                  <a:srgbClr val="AAB2BF"/>
                </a:solidFill>
              </a:rPr>
              <a:t>Justin Lopez</a:t>
            </a:r>
            <a:endParaRPr lang="en-US" sz="1600" dirty="0"/>
          </a:p>
          <a:p>
            <a:pPr indent="0" marL="0">
              <a:buNone/>
            </a:pPr>
            <a:r>
              <a:rPr lang="en-US" sz="1600" dirty="0">
                <a:solidFill>
                  <a:srgbClr val="AAB2BF"/>
                </a:solidFill>
              </a:rPr>
              <a:t>CST499: Capstone for Computer Software Technology</a:t>
            </a:r>
            <a:endParaRPr lang="en-US" sz="1600" dirty="0"/>
          </a:p>
          <a:p>
            <a:pPr indent="0" marL="0">
              <a:buNone/>
            </a:pPr>
            <a:r>
              <a:rPr lang="en-US" sz="1600" dirty="0">
                <a:solidFill>
                  <a:srgbClr val="AAB2BF"/>
                </a:solidFill>
              </a:rPr>
              <a:t>Instructor: Dr. Butler</a:t>
            </a:r>
            <a:endParaRPr lang="en-US" sz="1600" dirty="0"/>
          </a:p>
          <a:p>
            <a:pPr indent="0" marL="0">
              <a:buNone/>
            </a:pPr>
            <a:r>
              <a:rPr lang="en-US" sz="1600" dirty="0">
                <a:solidFill>
                  <a:srgbClr val="AAB2BF"/>
                </a:solidFill>
              </a:rPr>
              <a:t>September 7, 2026</a:t>
            </a:r>
            <a:endParaRPr lang="en-US" sz="1600" dirty="0"/>
          </a:p>
        </p:txBody>
      </p:sp>
      <p:sp>
        <p:nvSpPr>
          <p:cNvPr id="7" name="Shape 5"/>
          <p:cNvSpPr/>
          <p:nvPr/>
        </p:nvSpPr>
        <p:spPr>
          <a:xfrm>
            <a:off x="6629400" y="960120"/>
            <a:ext cx="4892040" cy="3977640"/>
          </a:xfrm>
          <a:prstGeom prst="roundRect">
            <a:avLst>
              <a:gd name="adj" fmla="val 1839"/>
            </a:avLst>
          </a:prstGeom>
          <a:solidFill>
            <a:srgbClr val="171B22"/>
          </a:solidFill>
          <a:ln w="12700">
            <a:solidFill>
              <a:srgbClr val="343B46"/>
            </a:solidFill>
            <a:prstDash val="solid"/>
          </a:ln>
        </p:spPr>
      </p:sp>
      <p:pic>
        <p:nvPicPr>
          <p:cNvPr id="8" name="Image 0" descr="/mnt/data/rebuild_assets/Week_4_assignment_screenshots/image5.png">    </p:cNvPr>
          <p:cNvPicPr>
            <a:picLocks noChangeAspect="1"/>
          </p:cNvPicPr>
          <p:nvPr/>
        </p:nvPicPr>
        <p:blipFill>
          <a:blip r:embed="rId1"/>
          <a:stretch>
            <a:fillRect/>
          </a:stretch>
        </p:blipFill>
        <p:spPr>
          <a:xfrm>
            <a:off x="6702552" y="1033272"/>
            <a:ext cx="4745736" cy="3831336"/>
          </a:xfrm>
          <a:prstGeom prst="rect">
            <a:avLst/>
          </a:prstGeom>
        </p:spPr>
      </p:pic>
      <p:sp>
        <p:nvSpPr>
          <p:cNvPr id="9" name="Shape 6"/>
          <p:cNvSpPr/>
          <p:nvPr/>
        </p:nvSpPr>
        <p:spPr>
          <a:xfrm>
            <a:off x="6739128" y="4553712"/>
            <a:ext cx="2615184" cy="256032"/>
          </a:xfrm>
          <a:prstGeom prst="roundRect">
            <a:avLst/>
          </a:prstGeom>
          <a:solidFill>
            <a:srgbClr val="000000">
              <a:alpha val="82000"/>
            </a:srgbClr>
          </a:solidFill>
          <a:ln w="12700">
            <a:solidFill>
              <a:srgbClr val="000000">
                <a:alpha val="0"/>
              </a:srgbClr>
            </a:solidFill>
            <a:prstDash val="solid"/>
          </a:ln>
        </p:spPr>
      </p:sp>
      <p:sp>
        <p:nvSpPr>
          <p:cNvPr id="10" name="Text 7"/>
          <p:cNvSpPr/>
          <p:nvPr/>
        </p:nvSpPr>
        <p:spPr>
          <a:xfrm>
            <a:off x="6830568" y="4599432"/>
            <a:ext cx="4480560" cy="164592"/>
          </a:xfrm>
          <a:prstGeom prst="rect">
            <a:avLst/>
          </a:prstGeom>
          <a:noFill/>
          <a:ln/>
        </p:spPr>
        <p:txBody>
          <a:bodyPr wrap="square" lIns="0" tIns="0" rIns="0" bIns="0" rtlCol="0" anchor="ctr"/>
          <a:lstStyle/>
          <a:p>
            <a:pPr indent="0" marL="0">
              <a:buNone/>
            </a:pPr>
            <a:r>
              <a:rPr lang="en-US" sz="950" b="1" dirty="0">
                <a:solidFill>
                  <a:srgbClr val="F7F9FC"/>
                </a:solidFill>
              </a:rPr>
              <a:t>Student Portal — successful login</a:t>
            </a:r>
            <a:endParaRPr lang="en-US" sz="950" dirty="0"/>
          </a:p>
        </p:txBody>
      </p:sp>
      <p:sp>
        <p:nvSpPr>
          <p:cNvPr id="11" name="Text 8"/>
          <p:cNvSpPr/>
          <p:nvPr/>
        </p:nvSpPr>
        <p:spPr>
          <a:xfrm>
            <a:off x="6675120" y="5212080"/>
            <a:ext cx="4754880" cy="274320"/>
          </a:xfrm>
          <a:prstGeom prst="rect">
            <a:avLst/>
          </a:prstGeom>
          <a:noFill/>
          <a:ln/>
        </p:spPr>
        <p:txBody>
          <a:bodyPr wrap="square" lIns="0" tIns="0" rIns="0" bIns="0" rtlCol="0" anchor="ctr"/>
          <a:lstStyle/>
          <a:p>
            <a:pPr algn="ctr" indent="0" marL="0">
              <a:buNone/>
            </a:pPr>
            <a:r>
              <a:rPr lang="en-US" sz="1320" dirty="0">
                <a:solidFill>
                  <a:srgbClr val="E8ECF2"/>
                </a:solidFill>
              </a:rPr>
              <a:t>Requirements  →  UML Design  →  PHP / MySQL Implementation</a:t>
            </a:r>
            <a:endParaRPr lang="en-US" sz="1320" dirty="0"/>
          </a:p>
        </p:txBody>
      </p:sp>
      <p:sp>
        <p:nvSpPr>
          <p:cNvPr id="12" name="Text 9"/>
          <p:cNvSpPr/>
          <p:nvPr/>
        </p:nvSpPr>
        <p:spPr>
          <a:xfrm>
            <a:off x="713232" y="6181344"/>
            <a:ext cx="10789920" cy="274320"/>
          </a:xfrm>
          <a:prstGeom prst="rect">
            <a:avLst/>
          </a:prstGeom>
          <a:noFill/>
          <a:ln/>
        </p:spPr>
        <p:txBody>
          <a:bodyPr wrap="square" lIns="0" tIns="0" rIns="0" bIns="0" rtlCol="0" anchor="ctr"/>
          <a:lstStyle/>
          <a:p>
            <a:pPr indent="0" marL="0">
              <a:buNone/>
            </a:pPr>
            <a:r>
              <a:rPr lang="en-US" sz="1000" dirty="0">
                <a:solidFill>
                  <a:srgbClr val="7E8795"/>
                </a:solidFill>
              </a:rPr>
              <a:t>Final project artifacts are based on the Week 1–4 course assignments and screenshots.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Project Development Roadmap</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course project progressed from process planning to requirements, design, implementation, and verification.</a:t>
            </a:r>
            <a:endParaRPr lang="en-US" sz="1250" dirty="0"/>
          </a:p>
        </p:txBody>
      </p:sp>
      <p:sp>
        <p:nvSpPr>
          <p:cNvPr id="4" name="Shape 2"/>
          <p:cNvSpPr/>
          <p:nvPr/>
        </p:nvSpPr>
        <p:spPr>
          <a:xfrm>
            <a:off x="530352" y="1234440"/>
            <a:ext cx="6537960" cy="4526280"/>
          </a:xfrm>
          <a:prstGeom prst="roundRect">
            <a:avLst>
              <a:gd name="adj" fmla="val 1616"/>
            </a:avLst>
          </a:prstGeom>
          <a:solidFill>
            <a:srgbClr val="20252E"/>
          </a:solidFill>
          <a:ln w="12700">
            <a:solidFill>
              <a:srgbClr val="343B46"/>
            </a:solidFill>
            <a:prstDash val="solid"/>
          </a:ln>
        </p:spPr>
      </p:sp>
      <p:pic>
        <p:nvPicPr>
          <p:cNvPr id="5" name="Image 0" descr="/mnt/data/rebuild_assets/crops/concept_map_crop.png">    </p:cNvPr>
          <p:cNvPicPr>
            <a:picLocks noChangeAspect="1"/>
          </p:cNvPicPr>
          <p:nvPr/>
        </p:nvPicPr>
        <p:blipFill>
          <a:blip r:embed="rId1"/>
          <a:stretch>
            <a:fillRect/>
          </a:stretch>
        </p:blipFill>
        <p:spPr>
          <a:xfrm>
            <a:off x="566928" y="1271016"/>
            <a:ext cx="6464808" cy="4453128"/>
          </a:xfrm>
          <a:prstGeom prst="rect">
            <a:avLst/>
          </a:prstGeom>
        </p:spPr>
      </p:pic>
      <p:sp>
        <p:nvSpPr>
          <p:cNvPr id="6" name="Shape 3"/>
          <p:cNvSpPr/>
          <p:nvPr/>
        </p:nvSpPr>
        <p:spPr>
          <a:xfrm>
            <a:off x="640080" y="5376672"/>
            <a:ext cx="3319272"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422392"/>
            <a:ext cx="6126480" cy="164592"/>
          </a:xfrm>
          <a:prstGeom prst="rect">
            <a:avLst/>
          </a:prstGeom>
          <a:noFill/>
          <a:ln/>
        </p:spPr>
        <p:txBody>
          <a:bodyPr wrap="square" lIns="0" tIns="0" rIns="0" bIns="0" rtlCol="0" anchor="ctr"/>
          <a:lstStyle/>
          <a:p>
            <a:pPr indent="0" marL="0">
              <a:buNone/>
            </a:pPr>
            <a:r>
              <a:rPr lang="en-US" sz="950" b="1" dirty="0">
                <a:solidFill>
                  <a:srgbClr val="F7F9FC"/>
                </a:solidFill>
              </a:rPr>
              <a:t>Week 1 concept map — software process models</a:t>
            </a:r>
            <a:endParaRPr lang="en-US" sz="950" dirty="0"/>
          </a:p>
        </p:txBody>
      </p:sp>
      <p:sp>
        <p:nvSpPr>
          <p:cNvPr id="8" name="Shape 5"/>
          <p:cNvSpPr/>
          <p:nvPr/>
        </p:nvSpPr>
        <p:spPr>
          <a:xfrm>
            <a:off x="7315200" y="1234440"/>
            <a:ext cx="4343400" cy="2880360"/>
          </a:xfrm>
          <a:prstGeom prst="roundRect">
            <a:avLst>
              <a:gd name="adj" fmla="val 2540"/>
            </a:avLst>
          </a:prstGeom>
          <a:solidFill>
            <a:srgbClr val="20252E"/>
          </a:solidFill>
          <a:ln w="12700">
            <a:solidFill>
              <a:srgbClr val="343B46"/>
            </a:solidFill>
            <a:prstDash val="solid"/>
          </a:ln>
        </p:spPr>
      </p:sp>
      <p:pic>
        <p:nvPicPr>
          <p:cNvPr id="9" name="Image 1" descr="/mnt/data/rebuild_assets/Week_3_-_Assignment(20260907-215602)/image1.png">    </p:cNvPr>
          <p:cNvPicPr>
            <a:picLocks noChangeAspect="1"/>
          </p:cNvPicPr>
          <p:nvPr/>
        </p:nvPicPr>
        <p:blipFill>
          <a:blip r:embed="rId2"/>
          <a:stretch>
            <a:fillRect/>
          </a:stretch>
        </p:blipFill>
        <p:spPr>
          <a:xfrm>
            <a:off x="7360920" y="1280160"/>
            <a:ext cx="4251960" cy="2788920"/>
          </a:xfrm>
          <a:prstGeom prst="rect">
            <a:avLst/>
          </a:prstGeom>
        </p:spPr>
      </p:pic>
      <p:sp>
        <p:nvSpPr>
          <p:cNvPr id="10" name="Shape 6"/>
          <p:cNvSpPr/>
          <p:nvPr/>
        </p:nvSpPr>
        <p:spPr>
          <a:xfrm>
            <a:off x="7424928" y="3730752"/>
            <a:ext cx="2167128"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7516368" y="3776472"/>
            <a:ext cx="3931920" cy="164592"/>
          </a:xfrm>
          <a:prstGeom prst="rect">
            <a:avLst/>
          </a:prstGeom>
          <a:noFill/>
          <a:ln/>
        </p:spPr>
        <p:txBody>
          <a:bodyPr wrap="square" lIns="0" tIns="0" rIns="0" bIns="0" rtlCol="0" anchor="ctr"/>
          <a:lstStyle/>
          <a:p>
            <a:pPr indent="0" marL="0">
              <a:buNone/>
            </a:pPr>
            <a:r>
              <a:rPr lang="en-US" sz="950" b="1" dirty="0">
                <a:solidFill>
                  <a:srgbClr val="F7F9FC"/>
                </a:solidFill>
              </a:rPr>
              <a:t>Week 3 — XAMPP environment</a:t>
            </a:r>
            <a:endParaRPr lang="en-US" sz="950" dirty="0"/>
          </a:p>
        </p:txBody>
      </p:sp>
      <p:sp>
        <p:nvSpPr>
          <p:cNvPr id="12" name="Text 8"/>
          <p:cNvSpPr/>
          <p:nvPr/>
        </p:nvSpPr>
        <p:spPr>
          <a:xfrm>
            <a:off x="7360920" y="4315968"/>
            <a:ext cx="4224528" cy="1463040"/>
          </a:xfrm>
          <a:prstGeom prst="rect">
            <a:avLst/>
          </a:prstGeom>
          <a:noFill/>
          <a:ln/>
        </p:spPr>
        <p:txBody>
          <a:bodyPr wrap="square" lIns="508" tIns="508" rIns="508" bIns="508" rtlCol="0" anchor="ctr" vert="top"/>
          <a:lstStyle/>
          <a:p>
            <a:pPr marL="203200" indent="-203200">
              <a:buSzPct val="100000"/>
              <a:buChar char="•"/>
            </a:pPr>
            <a:r>
              <a:rPr lang="en-US" sz="1420" dirty="0">
                <a:solidFill>
                  <a:srgbClr val="E8ECF2"/>
                </a:solidFill>
                <a:latin typeface="Aptos" pitchFamily="34" charset="0"/>
                <a:ea typeface="Aptos" pitchFamily="34" charset="-122"/>
                <a:cs typeface="Aptos" pitchFamily="34" charset="-120"/>
              </a:rPr>
              <a:t>Week 1: defined the SRS and major student-facing requirements.</a:t>
            </a:r>
            <a:endParaRPr lang="en-US" sz="1420" dirty="0"/>
          </a:p>
          <a:p>
            <a:pPr marL="203200" indent="-203200">
              <a:buSzPct val="100000"/>
              <a:buChar char="•"/>
            </a:pPr>
            <a:r>
              <a:rPr lang="en-US" sz="1420" dirty="0">
                <a:solidFill>
                  <a:srgbClr val="E8ECF2"/>
                </a:solidFill>
                <a:latin typeface="Aptos" pitchFamily="34" charset="0"/>
                <a:ea typeface="Aptos" pitchFamily="34" charset="-122"/>
                <a:cs typeface="Aptos" pitchFamily="34" charset="-120"/>
              </a:rPr>
              <a:t>Week 2: translated the requirements into five UML design models.</a:t>
            </a:r>
            <a:endParaRPr lang="en-US" sz="1420" dirty="0"/>
          </a:p>
          <a:p>
            <a:pPr marL="203200" indent="-203200">
              <a:buSzPct val="100000"/>
              <a:buChar char="•"/>
            </a:pPr>
            <a:r>
              <a:rPr lang="en-US" sz="1420" dirty="0">
                <a:solidFill>
                  <a:srgbClr val="E8ECF2"/>
                </a:solidFill>
                <a:latin typeface="Aptos" pitchFamily="34" charset="0"/>
                <a:ea typeface="Aptos" pitchFamily="34" charset="-122"/>
                <a:cs typeface="Aptos" pitchFamily="34" charset="-120"/>
              </a:rPr>
              <a:t>Week 3: built the XAMPP, PHP, MySQL, landing, login, and registration foundation.</a:t>
            </a:r>
            <a:endParaRPr lang="en-US" sz="1420" dirty="0"/>
          </a:p>
          <a:p>
            <a:pPr marL="203200" indent="-203200">
              <a:buSzPct val="100000"/>
              <a:buChar char="•"/>
            </a:pPr>
            <a:r>
              <a:rPr lang="en-US" sz="1420" dirty="0">
                <a:solidFill>
                  <a:srgbClr val="E8ECF2"/>
                </a:solidFill>
                <a:latin typeface="Aptos" pitchFamily="34" charset="0"/>
                <a:ea typeface="Aptos" pitchFamily="34" charset="-122"/>
                <a:cs typeface="Aptos" pitchFamily="34" charset="-120"/>
              </a:rPr>
              <a:t>Week 4: added course registration, enrollment records, and schedule management.</a:t>
            </a:r>
            <a:endParaRPr lang="en-US" sz="1420" dirty="0"/>
          </a:p>
        </p:txBody>
      </p:sp>
      <p:sp>
        <p:nvSpPr>
          <p:cNvPr id="13" name="Text 9"/>
          <p:cNvSpPr/>
          <p:nvPr/>
        </p:nvSpPr>
        <p:spPr>
          <a:xfrm>
            <a:off x="548640" y="6254496"/>
            <a:ext cx="6217920" cy="164592"/>
          </a:xfrm>
          <a:prstGeom prst="rect">
            <a:avLst/>
          </a:prstGeom>
          <a:noFill/>
          <a:ln/>
        </p:spPr>
        <p:txBody>
          <a:bodyPr wrap="square" lIns="0" tIns="0" rIns="0" bIns="0" rtlCol="0" anchor="ctr"/>
          <a:lstStyle/>
          <a:p>
            <a:pPr indent="0" marL="0">
              <a:buNone/>
            </a:pPr>
            <a:r>
              <a:rPr lang="en-US" sz="850" dirty="0">
                <a:solidFill>
                  <a:srgbClr val="7E8795"/>
                </a:solidFill>
                <a:latin typeface="Aptos" pitchFamily="34" charset="0"/>
                <a:ea typeface="Aptos" pitchFamily="34" charset="-122"/>
                <a:cs typeface="Aptos" pitchFamily="34" charset="-120"/>
              </a:rPr>
              <a:t>Sources: Week 1 concept map; Week 3 Assignment Figure 1.</a:t>
            </a:r>
            <a:endParaRPr lang="en-US" sz="85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SRS: Purpose and Project Scope</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SRS established what the system should do before implementation began.</a:t>
            </a:r>
            <a:endParaRPr lang="en-US" sz="1250" dirty="0"/>
          </a:p>
        </p:txBody>
      </p:sp>
      <p:sp>
        <p:nvSpPr>
          <p:cNvPr id="4" name="Shape 2"/>
          <p:cNvSpPr/>
          <p:nvPr/>
        </p:nvSpPr>
        <p:spPr>
          <a:xfrm>
            <a:off x="530352" y="1225296"/>
            <a:ext cx="3950208" cy="4800600"/>
          </a:xfrm>
          <a:prstGeom prst="roundRect">
            <a:avLst>
              <a:gd name="adj" fmla="val 1852"/>
            </a:avLst>
          </a:prstGeom>
          <a:solidFill>
            <a:srgbClr val="191D24"/>
          </a:solidFill>
          <a:ln w="12700">
            <a:solidFill>
              <a:srgbClr val="343B46"/>
            </a:solidFill>
            <a:prstDash val="solid"/>
          </a:ln>
        </p:spPr>
      </p:sp>
      <p:sp>
        <p:nvSpPr>
          <p:cNvPr id="5" name="Text 3"/>
          <p:cNvSpPr/>
          <p:nvPr/>
        </p:nvSpPr>
        <p:spPr>
          <a:xfrm>
            <a:off x="786384" y="1517904"/>
            <a:ext cx="3383280" cy="320040"/>
          </a:xfrm>
          <a:prstGeom prst="rect">
            <a:avLst/>
          </a:prstGeom>
          <a:noFill/>
          <a:ln/>
        </p:spPr>
        <p:txBody>
          <a:bodyPr wrap="square" lIns="0" tIns="0" rIns="0" bIns="0" rtlCol="0" anchor="ctr"/>
          <a:lstStyle/>
          <a:p>
            <a:pPr indent="0" marL="0">
              <a:buNone/>
            </a:pPr>
            <a:r>
              <a:rPr lang="en-US" sz="2000" b="1" dirty="0">
                <a:solidFill>
                  <a:srgbClr val="5FA8FF"/>
                </a:solidFill>
              </a:rPr>
              <a:t>Core SRS scope</a:t>
            </a:r>
            <a:endParaRPr lang="en-US" sz="2000" dirty="0"/>
          </a:p>
        </p:txBody>
      </p:sp>
      <p:sp>
        <p:nvSpPr>
          <p:cNvPr id="6" name="Text 4"/>
          <p:cNvSpPr/>
          <p:nvPr/>
        </p:nvSpPr>
        <p:spPr>
          <a:xfrm>
            <a:off x="786384" y="1993392"/>
            <a:ext cx="3401568" cy="2487168"/>
          </a:xfrm>
          <a:prstGeom prst="rect">
            <a:avLst/>
          </a:prstGeom>
          <a:noFill/>
          <a:ln/>
        </p:spPr>
        <p:txBody>
          <a:bodyPr wrap="square" lIns="508" tIns="508" rIns="508" bIns="508" rtlCol="0" anchor="ctr" vert="top"/>
          <a:lstStyle/>
          <a:p>
            <a:pPr marL="203200" indent="-203200">
              <a:buSzPct val="100000"/>
              <a:buChar char="•"/>
            </a:pPr>
            <a:r>
              <a:rPr lang="en-US" sz="1670" dirty="0">
                <a:solidFill>
                  <a:srgbClr val="E8ECF2"/>
                </a:solidFill>
                <a:latin typeface="Aptos" pitchFamily="34" charset="0"/>
                <a:ea typeface="Aptos" pitchFamily="34" charset="-122"/>
                <a:cs typeface="Aptos" pitchFamily="34" charset="-120"/>
              </a:rPr>
              <a:t>Create a student account and profile with unique credentials.</a:t>
            </a:r>
            <a:endParaRPr lang="en-US" sz="1670" dirty="0"/>
          </a:p>
          <a:p>
            <a:pPr marL="203200" indent="-203200">
              <a:buSzPct val="100000"/>
              <a:buChar char="•"/>
            </a:pPr>
            <a:r>
              <a:rPr lang="en-US" sz="1670" dirty="0">
                <a:solidFill>
                  <a:srgbClr val="E8ECF2"/>
                </a:solidFill>
                <a:latin typeface="Aptos" pitchFamily="34" charset="0"/>
                <a:ea typeface="Aptos" pitchFamily="34" charset="-122"/>
                <a:cs typeface="Aptos" pitchFamily="34" charset="-120"/>
              </a:rPr>
              <a:t>Log in and restrict access when credentials are invalid.</a:t>
            </a:r>
            <a:endParaRPr lang="en-US" sz="1670" dirty="0"/>
          </a:p>
          <a:p>
            <a:pPr marL="203200" indent="-203200">
              <a:buSzPct val="100000"/>
              <a:buChar char="•"/>
            </a:pPr>
            <a:r>
              <a:rPr lang="en-US" sz="1670" dirty="0">
                <a:solidFill>
                  <a:srgbClr val="E8ECF2"/>
                </a:solidFill>
                <a:latin typeface="Aptos" pitchFamily="34" charset="0"/>
                <a:ea typeface="Aptos" pitchFamily="34" charset="-122"/>
                <a:cs typeface="Aptos" pitchFamily="34" charset="-120"/>
              </a:rPr>
              <a:t>View course offerings by semester.</a:t>
            </a:r>
            <a:endParaRPr lang="en-US" sz="1670" dirty="0"/>
          </a:p>
          <a:p>
            <a:pPr marL="203200" indent="-203200">
              <a:buSzPct val="100000"/>
              <a:buChar char="•"/>
            </a:pPr>
            <a:r>
              <a:rPr lang="en-US" sz="1670" dirty="0">
                <a:solidFill>
                  <a:srgbClr val="E8ECF2"/>
                </a:solidFill>
                <a:latin typeface="Aptos" pitchFamily="34" charset="0"/>
                <a:ea typeface="Aptos" pitchFamily="34" charset="-122"/>
                <a:cs typeface="Aptos" pitchFamily="34" charset="-120"/>
              </a:rPr>
              <a:t>Enroll when space is available and enforce capacity limits.</a:t>
            </a:r>
            <a:endParaRPr lang="en-US" sz="1670" dirty="0"/>
          </a:p>
          <a:p>
            <a:pPr marL="203200" indent="-203200">
              <a:buSzPct val="100000"/>
              <a:buChar char="•"/>
            </a:pPr>
            <a:r>
              <a:rPr lang="en-US" sz="1670" dirty="0">
                <a:solidFill>
                  <a:srgbClr val="E8ECF2"/>
                </a:solidFill>
                <a:latin typeface="Aptos" pitchFamily="34" charset="0"/>
                <a:ea typeface="Aptos" pitchFamily="34" charset="-122"/>
                <a:cs typeface="Aptos" pitchFamily="34" charset="-120"/>
              </a:rPr>
              <a:t>Support a waiting list, cancellation, and seat-availability notification.</a:t>
            </a:r>
            <a:endParaRPr lang="en-US" sz="1670" dirty="0"/>
          </a:p>
        </p:txBody>
      </p:sp>
      <p:sp>
        <p:nvSpPr>
          <p:cNvPr id="7" name="Shape 5"/>
          <p:cNvSpPr/>
          <p:nvPr/>
        </p:nvSpPr>
        <p:spPr>
          <a:xfrm>
            <a:off x="822960" y="4892040"/>
            <a:ext cx="3246120" cy="566928"/>
          </a:xfrm>
          <a:prstGeom prst="roundRect">
            <a:avLst/>
          </a:prstGeom>
          <a:solidFill>
            <a:srgbClr val="54B689">
              <a:alpha val="92000"/>
            </a:srgbClr>
          </a:solidFill>
          <a:ln w="12700">
            <a:solidFill>
              <a:srgbClr val="54B689">
                <a:alpha val="60000"/>
              </a:srgbClr>
            </a:solidFill>
            <a:prstDash val="solid"/>
          </a:ln>
        </p:spPr>
      </p:sp>
      <p:sp>
        <p:nvSpPr>
          <p:cNvPr id="8" name="Text 6"/>
          <p:cNvSpPr/>
          <p:nvPr/>
        </p:nvSpPr>
        <p:spPr>
          <a:xfrm>
            <a:off x="969264" y="4983480"/>
            <a:ext cx="2953512" cy="402336"/>
          </a:xfrm>
          <a:prstGeom prst="rect">
            <a:avLst/>
          </a:prstGeom>
          <a:noFill/>
          <a:ln/>
        </p:spPr>
        <p:txBody>
          <a:bodyPr wrap="square" lIns="0" tIns="0" rIns="0" bIns="0" rtlCol="0" anchor="ctr"/>
          <a:lstStyle/>
          <a:p>
            <a:pPr algn="ctr" indent="0" marL="0">
              <a:buNone/>
            </a:pPr>
            <a:r>
              <a:rPr lang="en-US" sz="1350" b="1" dirty="0">
                <a:solidFill>
                  <a:srgbClr val="F7F9FC"/>
                </a:solidFill>
              </a:rPr>
              <a:t>Primary user: Student</a:t>
            </a:r>
            <a:endParaRPr lang="en-US" sz="1350" dirty="0"/>
          </a:p>
        </p:txBody>
      </p:sp>
      <p:sp>
        <p:nvSpPr>
          <p:cNvPr id="9" name="Shape 7"/>
          <p:cNvSpPr/>
          <p:nvPr/>
        </p:nvSpPr>
        <p:spPr>
          <a:xfrm>
            <a:off x="4736592" y="1225296"/>
            <a:ext cx="6922008" cy="4800600"/>
          </a:xfrm>
          <a:prstGeom prst="roundRect">
            <a:avLst>
              <a:gd name="adj" fmla="val 1524"/>
            </a:avLst>
          </a:prstGeom>
          <a:solidFill>
            <a:srgbClr val="F4F5F7"/>
          </a:solidFill>
          <a:ln w="12700">
            <a:solidFill>
              <a:srgbClr val="4B5563"/>
            </a:solidFill>
            <a:prstDash val="solid"/>
          </a:ln>
        </p:spPr>
      </p:sp>
      <p:pic>
        <p:nvPicPr>
          <p:cNvPr id="10" name="Image 0" descr="/mnt/data/rebuild_assets/crops/srs_scope_crop.png">    </p:cNvPr>
          <p:cNvPicPr>
            <a:picLocks noChangeAspect="1"/>
          </p:cNvPicPr>
          <p:nvPr/>
        </p:nvPicPr>
        <p:blipFill>
          <a:blip r:embed="rId1"/>
          <a:stretch>
            <a:fillRect/>
          </a:stretch>
        </p:blipFill>
        <p:spPr>
          <a:xfrm>
            <a:off x="4773168" y="1261872"/>
            <a:ext cx="6848856" cy="4727448"/>
          </a:xfrm>
          <a:prstGeom prst="rect">
            <a:avLst/>
          </a:prstGeom>
        </p:spPr>
      </p:pic>
      <p:sp>
        <p:nvSpPr>
          <p:cNvPr id="11" name="Shape 8"/>
          <p:cNvSpPr/>
          <p:nvPr/>
        </p:nvSpPr>
        <p:spPr>
          <a:xfrm>
            <a:off x="4846320" y="5641848"/>
            <a:ext cx="2935224" cy="256032"/>
          </a:xfrm>
          <a:prstGeom prst="roundRect">
            <a:avLst/>
          </a:prstGeom>
          <a:solidFill>
            <a:srgbClr val="000000">
              <a:alpha val="82000"/>
            </a:srgbClr>
          </a:solidFill>
          <a:ln w="12700">
            <a:solidFill>
              <a:srgbClr val="000000">
                <a:alpha val="0"/>
              </a:srgbClr>
            </a:solidFill>
            <a:prstDash val="solid"/>
          </a:ln>
        </p:spPr>
      </p:sp>
      <p:sp>
        <p:nvSpPr>
          <p:cNvPr id="12" name="Text 9"/>
          <p:cNvSpPr/>
          <p:nvPr/>
        </p:nvSpPr>
        <p:spPr>
          <a:xfrm>
            <a:off x="4937760" y="5687568"/>
            <a:ext cx="6510528" cy="164592"/>
          </a:xfrm>
          <a:prstGeom prst="rect">
            <a:avLst/>
          </a:prstGeom>
          <a:noFill/>
          <a:ln/>
        </p:spPr>
        <p:txBody>
          <a:bodyPr wrap="square" lIns="0" tIns="0" rIns="0" bIns="0" rtlCol="0" anchor="ctr"/>
          <a:lstStyle/>
          <a:p>
            <a:pPr indent="0" marL="0">
              <a:buNone/>
            </a:pPr>
            <a:r>
              <a:rPr lang="en-US" sz="950" b="1" dirty="0">
                <a:solidFill>
                  <a:srgbClr val="F7F9FC"/>
                </a:solidFill>
              </a:rPr>
              <a:t>SRS purpose and project scope — Week 1</a:t>
            </a:r>
            <a:endParaRPr lang="en-US" sz="950" dirty="0"/>
          </a:p>
        </p:txBody>
      </p:sp>
      <p:sp>
        <p:nvSpPr>
          <p:cNvPr id="13" name="Text 10"/>
          <p:cNvSpPr/>
          <p:nvPr/>
        </p:nvSpPr>
        <p:spPr>
          <a:xfrm>
            <a:off x="7132320" y="6473952"/>
            <a:ext cx="384048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(Tsui et al., 2018)</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SRS: Functional and Security Requirements</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requirements were broken into traceable groups for registration, enrollment, and access control.</a:t>
            </a:r>
            <a:endParaRPr lang="en-US" sz="1250" dirty="0"/>
          </a:p>
        </p:txBody>
      </p:sp>
      <p:sp>
        <p:nvSpPr>
          <p:cNvPr id="4" name="Shape 2"/>
          <p:cNvSpPr/>
          <p:nvPr/>
        </p:nvSpPr>
        <p:spPr>
          <a:xfrm>
            <a:off x="530352" y="1298448"/>
            <a:ext cx="3703320" cy="4434840"/>
          </a:xfrm>
          <a:prstGeom prst="roundRect">
            <a:avLst>
              <a:gd name="adj" fmla="val 1975"/>
            </a:avLst>
          </a:prstGeom>
          <a:solidFill>
            <a:srgbClr val="F4F5F7"/>
          </a:solidFill>
          <a:ln w="12700">
            <a:solidFill>
              <a:srgbClr val="343B46"/>
            </a:solidFill>
            <a:prstDash val="solid"/>
          </a:ln>
        </p:spPr>
      </p:sp>
      <p:pic>
        <p:nvPicPr>
          <p:cNvPr id="5" name="Image 0" descr="/mnt/data/rebuild_assets/crops/srs_login_crop.png">    </p:cNvPr>
          <p:cNvPicPr>
            <a:picLocks noChangeAspect="1"/>
          </p:cNvPicPr>
          <p:nvPr/>
        </p:nvPicPr>
        <p:blipFill>
          <a:blip r:embed="rId1"/>
          <a:stretch>
            <a:fillRect/>
          </a:stretch>
        </p:blipFill>
        <p:spPr>
          <a:xfrm>
            <a:off x="557784" y="1325880"/>
            <a:ext cx="3648456" cy="4379976"/>
          </a:xfrm>
          <a:prstGeom prst="rect">
            <a:avLst/>
          </a:prstGeom>
        </p:spPr>
      </p:pic>
      <p:sp>
        <p:nvSpPr>
          <p:cNvPr id="6" name="Shape 3"/>
          <p:cNvSpPr/>
          <p:nvPr/>
        </p:nvSpPr>
        <p:spPr>
          <a:xfrm>
            <a:off x="640080" y="5349240"/>
            <a:ext cx="2551176"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394960"/>
            <a:ext cx="3291840" cy="164592"/>
          </a:xfrm>
          <a:prstGeom prst="rect">
            <a:avLst/>
          </a:prstGeom>
          <a:noFill/>
          <a:ln/>
        </p:spPr>
        <p:txBody>
          <a:bodyPr wrap="square" lIns="0" tIns="0" rIns="0" bIns="0" rtlCol="0" anchor="ctr"/>
          <a:lstStyle/>
          <a:p>
            <a:pPr indent="0" marL="0">
              <a:buNone/>
            </a:pPr>
            <a:r>
              <a:rPr lang="en-US" sz="950" b="1" dirty="0">
                <a:solidFill>
                  <a:srgbClr val="F7F9FC"/>
                </a:solidFill>
              </a:rPr>
              <a:t>REQ-1–7 • registration and login</a:t>
            </a:r>
            <a:endParaRPr lang="en-US" sz="950" dirty="0"/>
          </a:p>
        </p:txBody>
      </p:sp>
      <p:sp>
        <p:nvSpPr>
          <p:cNvPr id="8" name="Shape 5"/>
          <p:cNvSpPr/>
          <p:nvPr/>
        </p:nvSpPr>
        <p:spPr>
          <a:xfrm>
            <a:off x="4407408" y="1298448"/>
            <a:ext cx="3703320" cy="4434840"/>
          </a:xfrm>
          <a:prstGeom prst="roundRect">
            <a:avLst>
              <a:gd name="adj" fmla="val 1975"/>
            </a:avLst>
          </a:prstGeom>
          <a:solidFill>
            <a:srgbClr val="F4F5F7"/>
          </a:solidFill>
          <a:ln w="12700">
            <a:solidFill>
              <a:srgbClr val="343B46"/>
            </a:solidFill>
            <a:prstDash val="solid"/>
          </a:ln>
        </p:spPr>
      </p:sp>
      <p:pic>
        <p:nvPicPr>
          <p:cNvPr id="9" name="Image 1" descr="/mnt/data/rebuild_assets/crops/srs_enrollment_crop.png">    </p:cNvPr>
          <p:cNvPicPr>
            <a:picLocks noChangeAspect="1"/>
          </p:cNvPicPr>
          <p:nvPr/>
        </p:nvPicPr>
        <p:blipFill>
          <a:blip r:embed="rId2"/>
          <a:stretch>
            <a:fillRect/>
          </a:stretch>
        </p:blipFill>
        <p:spPr>
          <a:xfrm>
            <a:off x="4434840" y="1325880"/>
            <a:ext cx="3648456" cy="4379976"/>
          </a:xfrm>
          <a:prstGeom prst="rect">
            <a:avLst/>
          </a:prstGeom>
        </p:spPr>
      </p:pic>
      <p:sp>
        <p:nvSpPr>
          <p:cNvPr id="10" name="Shape 6"/>
          <p:cNvSpPr/>
          <p:nvPr/>
        </p:nvSpPr>
        <p:spPr>
          <a:xfrm>
            <a:off x="4517136" y="5349240"/>
            <a:ext cx="2743200"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4608576" y="5394960"/>
            <a:ext cx="3291840" cy="164592"/>
          </a:xfrm>
          <a:prstGeom prst="rect">
            <a:avLst/>
          </a:prstGeom>
          <a:noFill/>
          <a:ln/>
        </p:spPr>
        <p:txBody>
          <a:bodyPr wrap="square" lIns="0" tIns="0" rIns="0" bIns="0" rtlCol="0" anchor="ctr"/>
          <a:lstStyle/>
          <a:p>
            <a:pPr indent="0" marL="0">
              <a:buNone/>
            </a:pPr>
            <a:r>
              <a:rPr lang="en-US" sz="950" b="1" dirty="0">
                <a:solidFill>
                  <a:srgbClr val="F7F9FC"/>
                </a:solidFill>
              </a:rPr>
              <a:t>REQ-8–14 • semesters and enrollment</a:t>
            </a:r>
            <a:endParaRPr lang="en-US" sz="950" dirty="0"/>
          </a:p>
        </p:txBody>
      </p:sp>
      <p:sp>
        <p:nvSpPr>
          <p:cNvPr id="12" name="Shape 8"/>
          <p:cNvSpPr/>
          <p:nvPr/>
        </p:nvSpPr>
        <p:spPr>
          <a:xfrm>
            <a:off x="8284464" y="1298448"/>
            <a:ext cx="3401568" cy="4434840"/>
          </a:xfrm>
          <a:prstGeom prst="roundRect">
            <a:avLst>
              <a:gd name="adj" fmla="val 2151"/>
            </a:avLst>
          </a:prstGeom>
          <a:solidFill>
            <a:srgbClr val="F4F5F7"/>
          </a:solidFill>
          <a:ln w="12700">
            <a:solidFill>
              <a:srgbClr val="343B46"/>
            </a:solidFill>
            <a:prstDash val="solid"/>
          </a:ln>
        </p:spPr>
      </p:sp>
      <p:pic>
        <p:nvPicPr>
          <p:cNvPr id="13" name="Image 2" descr="/mnt/data/rebuild_assets/crops/srs_security_crop.png">    </p:cNvPr>
          <p:cNvPicPr>
            <a:picLocks noChangeAspect="1"/>
          </p:cNvPicPr>
          <p:nvPr/>
        </p:nvPicPr>
        <p:blipFill>
          <a:blip r:embed="rId3"/>
          <a:stretch>
            <a:fillRect/>
          </a:stretch>
        </p:blipFill>
        <p:spPr>
          <a:xfrm>
            <a:off x="8311896" y="1325880"/>
            <a:ext cx="3346704" cy="4379976"/>
          </a:xfrm>
          <a:prstGeom prst="rect">
            <a:avLst/>
          </a:prstGeom>
        </p:spPr>
      </p:pic>
      <p:sp>
        <p:nvSpPr>
          <p:cNvPr id="14" name="Shape 9"/>
          <p:cNvSpPr/>
          <p:nvPr/>
        </p:nvSpPr>
        <p:spPr>
          <a:xfrm>
            <a:off x="8394192" y="5349240"/>
            <a:ext cx="1783080"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8485632" y="5394960"/>
            <a:ext cx="2990088" cy="164592"/>
          </a:xfrm>
          <a:prstGeom prst="rect">
            <a:avLst/>
          </a:prstGeom>
          <a:noFill/>
          <a:ln/>
        </p:spPr>
        <p:txBody>
          <a:bodyPr wrap="square" lIns="0" tIns="0" rIns="0" bIns="0" rtlCol="0" anchor="ctr"/>
          <a:lstStyle/>
          <a:p>
            <a:pPr indent="0" marL="0">
              <a:buNone/>
            </a:pPr>
            <a:r>
              <a:rPr lang="en-US" sz="950" b="1" dirty="0">
                <a:solidFill>
                  <a:srgbClr val="F7F9FC"/>
                </a:solidFill>
              </a:rPr>
              <a:t>REQ-21–22 • security</a:t>
            </a:r>
            <a:endParaRPr lang="en-US" sz="950" dirty="0"/>
          </a:p>
        </p:txBody>
      </p:sp>
      <p:sp>
        <p:nvSpPr>
          <p:cNvPr id="16" name="Text 11"/>
          <p:cNvSpPr/>
          <p:nvPr/>
        </p:nvSpPr>
        <p:spPr>
          <a:xfrm>
            <a:off x="658368" y="5879592"/>
            <a:ext cx="10972800" cy="411480"/>
          </a:xfrm>
          <a:prstGeom prst="rect">
            <a:avLst/>
          </a:prstGeom>
          <a:noFill/>
          <a:ln/>
        </p:spPr>
        <p:txBody>
          <a:bodyPr wrap="square" lIns="0" tIns="0" rIns="0" bIns="0" rtlCol="0" anchor="ctr"/>
          <a:lstStyle/>
          <a:p>
            <a:pPr algn="ctr" indent="0" marL="0">
              <a:buNone/>
            </a:pPr>
            <a:r>
              <a:rPr lang="en-US" sz="1350" dirty="0">
                <a:solidFill>
                  <a:srgbClr val="E8ECF2"/>
                </a:solidFill>
              </a:rPr>
              <a:t>The SRS ultimately defined 22 requirements, including unique user IDs, valid credential checks, course-capacity rules, waitlists, cancellation, notification, and protection of account information.</a:t>
            </a:r>
            <a:endParaRPr lang="en-US" sz="135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UML Design Model: Static View</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Use case and class diagrams translate the SRS into actors, functions, and data relationships.</a:t>
            </a:r>
            <a:endParaRPr lang="en-US" sz="1250" dirty="0"/>
          </a:p>
        </p:txBody>
      </p:sp>
      <p:sp>
        <p:nvSpPr>
          <p:cNvPr id="4" name="Shape 2"/>
          <p:cNvSpPr/>
          <p:nvPr/>
        </p:nvSpPr>
        <p:spPr>
          <a:xfrm>
            <a:off x="530352" y="1261872"/>
            <a:ext cx="5870448" cy="4526280"/>
          </a:xfrm>
          <a:prstGeom prst="roundRect">
            <a:avLst>
              <a:gd name="adj" fmla="val 1616"/>
            </a:avLst>
          </a:prstGeom>
          <a:solidFill>
            <a:srgbClr val="F5F5F5"/>
          </a:solidFill>
          <a:ln w="12700">
            <a:solidFill>
              <a:srgbClr val="343B46"/>
            </a:solidFill>
            <a:prstDash val="solid"/>
          </a:ln>
        </p:spPr>
      </p:sp>
      <p:pic>
        <p:nvPicPr>
          <p:cNvPr id="5" name="Image 0" descr="/mnt/data/rebuild_assets/Week_2_-_Assignment(20260907-215546)/image1.png">    </p:cNvPr>
          <p:cNvPicPr>
            <a:picLocks noChangeAspect="1"/>
          </p:cNvPicPr>
          <p:nvPr/>
        </p:nvPicPr>
        <p:blipFill>
          <a:blip r:embed="rId1"/>
          <a:stretch>
            <a:fillRect/>
          </a:stretch>
        </p:blipFill>
        <p:spPr>
          <a:xfrm>
            <a:off x="585216" y="1316736"/>
            <a:ext cx="5760720" cy="4416552"/>
          </a:xfrm>
          <a:prstGeom prst="rect">
            <a:avLst/>
          </a:prstGeom>
        </p:spPr>
      </p:pic>
      <p:sp>
        <p:nvSpPr>
          <p:cNvPr id="6" name="Shape 3"/>
          <p:cNvSpPr/>
          <p:nvPr/>
        </p:nvSpPr>
        <p:spPr>
          <a:xfrm>
            <a:off x="640080" y="5404104"/>
            <a:ext cx="2103120"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449824"/>
            <a:ext cx="5458968" cy="164592"/>
          </a:xfrm>
          <a:prstGeom prst="rect">
            <a:avLst/>
          </a:prstGeom>
          <a:noFill/>
          <a:ln/>
        </p:spPr>
        <p:txBody>
          <a:bodyPr wrap="square" lIns="0" tIns="0" rIns="0" bIns="0" rtlCol="0" anchor="ctr"/>
          <a:lstStyle/>
          <a:p>
            <a:pPr indent="0" marL="0">
              <a:buNone/>
            </a:pPr>
            <a:r>
              <a:rPr lang="en-US" sz="950" b="1" dirty="0">
                <a:solidFill>
                  <a:srgbClr val="F7F9FC"/>
                </a:solidFill>
              </a:rPr>
              <a:t>Use Case Diagram — Week 2</a:t>
            </a:r>
            <a:endParaRPr lang="en-US" sz="950" dirty="0"/>
          </a:p>
        </p:txBody>
      </p:sp>
      <p:sp>
        <p:nvSpPr>
          <p:cNvPr id="8" name="Shape 5"/>
          <p:cNvSpPr/>
          <p:nvPr/>
        </p:nvSpPr>
        <p:spPr>
          <a:xfrm>
            <a:off x="6583680" y="1261872"/>
            <a:ext cx="5102352" cy="4526280"/>
          </a:xfrm>
          <a:prstGeom prst="roundRect">
            <a:avLst>
              <a:gd name="adj" fmla="val 1616"/>
            </a:avLst>
          </a:prstGeom>
          <a:solidFill>
            <a:srgbClr val="F5F5F5"/>
          </a:solidFill>
          <a:ln w="12700">
            <a:solidFill>
              <a:srgbClr val="343B46"/>
            </a:solidFill>
            <a:prstDash val="solid"/>
          </a:ln>
        </p:spPr>
      </p:sp>
      <p:pic>
        <p:nvPicPr>
          <p:cNvPr id="9" name="Image 1" descr="/mnt/data/rebuild_assets/Week_2_-_Assignment(20260907-215546)/image2.png">    </p:cNvPr>
          <p:cNvPicPr>
            <a:picLocks noChangeAspect="1"/>
          </p:cNvPicPr>
          <p:nvPr/>
        </p:nvPicPr>
        <p:blipFill>
          <a:blip r:embed="rId2"/>
          <a:stretch>
            <a:fillRect/>
          </a:stretch>
        </p:blipFill>
        <p:spPr>
          <a:xfrm>
            <a:off x="6638544" y="1316736"/>
            <a:ext cx="4992624" cy="4416552"/>
          </a:xfrm>
          <a:prstGeom prst="rect">
            <a:avLst/>
          </a:prstGeom>
        </p:spPr>
      </p:pic>
      <p:sp>
        <p:nvSpPr>
          <p:cNvPr id="10" name="Shape 6"/>
          <p:cNvSpPr/>
          <p:nvPr/>
        </p:nvSpPr>
        <p:spPr>
          <a:xfrm>
            <a:off x="6693408" y="5404104"/>
            <a:ext cx="1911096"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6784848" y="5449824"/>
            <a:ext cx="4690872" cy="164592"/>
          </a:xfrm>
          <a:prstGeom prst="rect">
            <a:avLst/>
          </a:prstGeom>
          <a:noFill/>
          <a:ln/>
        </p:spPr>
        <p:txBody>
          <a:bodyPr wrap="square" lIns="0" tIns="0" rIns="0" bIns="0" rtlCol="0" anchor="ctr"/>
          <a:lstStyle/>
          <a:p>
            <a:pPr indent="0" marL="0">
              <a:buNone/>
            </a:pPr>
            <a:r>
              <a:rPr lang="en-US" sz="950" b="1" dirty="0">
                <a:solidFill>
                  <a:srgbClr val="F7F9FC"/>
                </a:solidFill>
              </a:rPr>
              <a:t>Class Diagram — Week 2</a:t>
            </a:r>
            <a:endParaRPr lang="en-US" sz="950" dirty="0"/>
          </a:p>
        </p:txBody>
      </p:sp>
      <p:sp>
        <p:nvSpPr>
          <p:cNvPr id="12" name="Text 8"/>
          <p:cNvSpPr/>
          <p:nvPr/>
        </p:nvSpPr>
        <p:spPr>
          <a:xfrm>
            <a:off x="713232" y="5925312"/>
            <a:ext cx="5486400" cy="310896"/>
          </a:xfrm>
          <a:prstGeom prst="rect">
            <a:avLst/>
          </a:prstGeom>
          <a:noFill/>
          <a:ln/>
        </p:spPr>
        <p:txBody>
          <a:bodyPr wrap="square" lIns="0" tIns="0" rIns="0" bIns="0" rtlCol="0" anchor="ctr"/>
          <a:lstStyle/>
          <a:p>
            <a:pPr algn="ctr" indent="0" marL="0">
              <a:buNone/>
            </a:pPr>
            <a:r>
              <a:rPr lang="en-US" sz="1220" dirty="0">
                <a:solidFill>
                  <a:srgbClr val="E8ECF2"/>
                </a:solidFill>
              </a:rPr>
              <a:t>Student actor → account, login, course viewing, enrollment, waitlist, cancellation, notification</a:t>
            </a:r>
            <a:endParaRPr lang="en-US" sz="1220" dirty="0"/>
          </a:p>
        </p:txBody>
      </p:sp>
      <p:sp>
        <p:nvSpPr>
          <p:cNvPr id="13" name="Text 9"/>
          <p:cNvSpPr/>
          <p:nvPr/>
        </p:nvSpPr>
        <p:spPr>
          <a:xfrm>
            <a:off x="6720840" y="5925312"/>
            <a:ext cx="4800600" cy="310896"/>
          </a:xfrm>
          <a:prstGeom prst="rect">
            <a:avLst/>
          </a:prstGeom>
          <a:noFill/>
          <a:ln/>
        </p:spPr>
        <p:txBody>
          <a:bodyPr wrap="square" lIns="0" tIns="0" rIns="0" bIns="0" rtlCol="0" anchor="ctr"/>
          <a:lstStyle/>
          <a:p>
            <a:pPr algn="ctr" indent="0" marL="0">
              <a:buNone/>
            </a:pPr>
            <a:r>
              <a:rPr lang="en-US" sz="1220" dirty="0">
                <a:solidFill>
                  <a:srgbClr val="E8ECF2"/>
                </a:solidFill>
              </a:rPr>
              <a:t>Core classes → Student, Semester, Course, Enrollment, WaitlistEntry, Notification</a:t>
            </a:r>
            <a:endParaRPr lang="en-US" sz="1220" dirty="0"/>
          </a:p>
        </p:txBody>
      </p:sp>
      <p:sp>
        <p:nvSpPr>
          <p:cNvPr id="14" name="Text 10"/>
          <p:cNvSpPr/>
          <p:nvPr/>
        </p:nvSpPr>
        <p:spPr>
          <a:xfrm>
            <a:off x="6858000" y="6473952"/>
            <a:ext cx="457200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(Ahmad et al., 2019; Tsui et al., 2018)</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UML Design Model: Behavioral View</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Sequence, activity, and state diagrams show how registration behavior changes over time.</a:t>
            </a:r>
            <a:endParaRPr lang="en-US" sz="1250" dirty="0"/>
          </a:p>
        </p:txBody>
      </p:sp>
      <p:sp>
        <p:nvSpPr>
          <p:cNvPr id="4" name="Shape 2"/>
          <p:cNvSpPr/>
          <p:nvPr/>
        </p:nvSpPr>
        <p:spPr>
          <a:xfrm>
            <a:off x="530352" y="1225296"/>
            <a:ext cx="6419088" cy="2907792"/>
          </a:xfrm>
          <a:prstGeom prst="roundRect">
            <a:avLst>
              <a:gd name="adj" fmla="val 2516"/>
            </a:avLst>
          </a:prstGeom>
          <a:solidFill>
            <a:srgbClr val="F6F6F6"/>
          </a:solidFill>
          <a:ln w="12700">
            <a:solidFill>
              <a:srgbClr val="343B46"/>
            </a:solidFill>
            <a:prstDash val="solid"/>
          </a:ln>
        </p:spPr>
      </p:sp>
      <p:pic>
        <p:nvPicPr>
          <p:cNvPr id="5" name="Image 0" descr="/mnt/data/rebuild_assets/Week_2_-_Assignment(20260907-215546)/image3.png">    </p:cNvPr>
          <p:cNvPicPr>
            <a:picLocks noChangeAspect="1"/>
          </p:cNvPicPr>
          <p:nvPr/>
        </p:nvPicPr>
        <p:blipFill>
          <a:blip r:embed="rId1"/>
          <a:stretch>
            <a:fillRect/>
          </a:stretch>
        </p:blipFill>
        <p:spPr>
          <a:xfrm>
            <a:off x="576072" y="1271016"/>
            <a:ext cx="6327648" cy="2816352"/>
          </a:xfrm>
          <a:prstGeom prst="rect">
            <a:avLst/>
          </a:prstGeom>
        </p:spPr>
      </p:pic>
      <p:sp>
        <p:nvSpPr>
          <p:cNvPr id="6" name="Shape 3"/>
          <p:cNvSpPr/>
          <p:nvPr/>
        </p:nvSpPr>
        <p:spPr>
          <a:xfrm>
            <a:off x="640080" y="3749040"/>
            <a:ext cx="3127248"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3794760"/>
            <a:ext cx="6007608" cy="164592"/>
          </a:xfrm>
          <a:prstGeom prst="rect">
            <a:avLst/>
          </a:prstGeom>
          <a:noFill/>
          <a:ln/>
        </p:spPr>
        <p:txBody>
          <a:bodyPr wrap="square" lIns="0" tIns="0" rIns="0" bIns="0" rtlCol="0" anchor="ctr"/>
          <a:lstStyle/>
          <a:p>
            <a:pPr indent="0" marL="0">
              <a:buNone/>
            </a:pPr>
            <a:r>
              <a:rPr lang="en-US" sz="950" b="1" dirty="0">
                <a:solidFill>
                  <a:srgbClr val="F7F9FC"/>
                </a:solidFill>
              </a:rPr>
              <a:t>Sequence — course enrollment and waitlist</a:t>
            </a:r>
            <a:endParaRPr lang="en-US" sz="950" dirty="0"/>
          </a:p>
        </p:txBody>
      </p:sp>
      <p:sp>
        <p:nvSpPr>
          <p:cNvPr id="8" name="Shape 5"/>
          <p:cNvSpPr/>
          <p:nvPr/>
        </p:nvSpPr>
        <p:spPr>
          <a:xfrm>
            <a:off x="530352" y="4315968"/>
            <a:ext cx="6419088" cy="1664208"/>
          </a:xfrm>
          <a:prstGeom prst="roundRect">
            <a:avLst>
              <a:gd name="adj" fmla="val 4396"/>
            </a:avLst>
          </a:prstGeom>
          <a:solidFill>
            <a:srgbClr val="F6F6F6"/>
          </a:solidFill>
          <a:ln w="12700">
            <a:solidFill>
              <a:srgbClr val="343B46"/>
            </a:solidFill>
            <a:prstDash val="solid"/>
          </a:ln>
        </p:spPr>
      </p:sp>
      <p:pic>
        <p:nvPicPr>
          <p:cNvPr id="9" name="Image 1" descr="/mnt/data/rebuild_assets/Week_2_-_Assignment(20260907-215546)/image4.png">    </p:cNvPr>
          <p:cNvPicPr>
            <a:picLocks noChangeAspect="1"/>
          </p:cNvPicPr>
          <p:nvPr/>
        </p:nvPicPr>
        <p:blipFill>
          <a:blip r:embed="rId2"/>
          <a:stretch>
            <a:fillRect/>
          </a:stretch>
        </p:blipFill>
        <p:spPr>
          <a:xfrm>
            <a:off x="566928" y="4352544"/>
            <a:ext cx="6345936" cy="1591056"/>
          </a:xfrm>
          <a:prstGeom prst="rect">
            <a:avLst/>
          </a:prstGeom>
        </p:spPr>
      </p:pic>
      <p:sp>
        <p:nvSpPr>
          <p:cNvPr id="10" name="Shape 6"/>
          <p:cNvSpPr/>
          <p:nvPr/>
        </p:nvSpPr>
        <p:spPr>
          <a:xfrm>
            <a:off x="640080" y="5596128"/>
            <a:ext cx="2551176"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731520" y="5641848"/>
            <a:ext cx="6007608" cy="164592"/>
          </a:xfrm>
          <a:prstGeom prst="rect">
            <a:avLst/>
          </a:prstGeom>
          <a:noFill/>
          <a:ln/>
        </p:spPr>
        <p:txBody>
          <a:bodyPr wrap="square" lIns="0" tIns="0" rIns="0" bIns="0" rtlCol="0" anchor="ctr"/>
          <a:lstStyle/>
          <a:p>
            <a:pPr indent="0" marL="0">
              <a:buNone/>
            </a:pPr>
            <a:r>
              <a:rPr lang="en-US" sz="950" b="1" dirty="0">
                <a:solidFill>
                  <a:srgbClr val="F7F9FC"/>
                </a:solidFill>
              </a:rPr>
              <a:t>Activity — registration workflow</a:t>
            </a:r>
            <a:endParaRPr lang="en-US" sz="950" dirty="0"/>
          </a:p>
        </p:txBody>
      </p:sp>
      <p:sp>
        <p:nvSpPr>
          <p:cNvPr id="12" name="Shape 8"/>
          <p:cNvSpPr/>
          <p:nvPr/>
        </p:nvSpPr>
        <p:spPr>
          <a:xfrm>
            <a:off x="7159752" y="1225296"/>
            <a:ext cx="4526280" cy="2761488"/>
          </a:xfrm>
          <a:prstGeom prst="roundRect">
            <a:avLst>
              <a:gd name="adj" fmla="val 2649"/>
            </a:avLst>
          </a:prstGeom>
          <a:solidFill>
            <a:srgbClr val="F6F6F6"/>
          </a:solidFill>
          <a:ln w="12700">
            <a:solidFill>
              <a:srgbClr val="343B46"/>
            </a:solidFill>
            <a:prstDash val="solid"/>
          </a:ln>
        </p:spPr>
      </p:sp>
      <p:pic>
        <p:nvPicPr>
          <p:cNvPr id="13" name="Image 2" descr="/mnt/data/rebuild_assets/Week_2_-_Assignment(20260907-215546)/image5.png">    </p:cNvPr>
          <p:cNvPicPr>
            <a:picLocks noChangeAspect="1"/>
          </p:cNvPicPr>
          <p:nvPr/>
        </p:nvPicPr>
        <p:blipFill>
          <a:blip r:embed="rId3"/>
          <a:stretch>
            <a:fillRect/>
          </a:stretch>
        </p:blipFill>
        <p:spPr>
          <a:xfrm>
            <a:off x="7205472" y="1271016"/>
            <a:ext cx="4434840" cy="2670048"/>
          </a:xfrm>
          <a:prstGeom prst="rect">
            <a:avLst/>
          </a:prstGeom>
        </p:spPr>
      </p:pic>
      <p:sp>
        <p:nvSpPr>
          <p:cNvPr id="14" name="Shape 9"/>
          <p:cNvSpPr/>
          <p:nvPr/>
        </p:nvSpPr>
        <p:spPr>
          <a:xfrm>
            <a:off x="7269480" y="3602736"/>
            <a:ext cx="2743200"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7360920" y="3648456"/>
            <a:ext cx="4114800" cy="164592"/>
          </a:xfrm>
          <a:prstGeom prst="rect">
            <a:avLst/>
          </a:prstGeom>
          <a:noFill/>
          <a:ln/>
        </p:spPr>
        <p:txBody>
          <a:bodyPr wrap="square" lIns="0" tIns="0" rIns="0" bIns="0" rtlCol="0" anchor="ctr"/>
          <a:lstStyle/>
          <a:p>
            <a:pPr indent="0" marL="0">
              <a:buNone/>
            </a:pPr>
            <a:r>
              <a:rPr lang="en-US" sz="950" b="1" dirty="0">
                <a:solidFill>
                  <a:srgbClr val="F7F9FC"/>
                </a:solidFill>
              </a:rPr>
              <a:t>State — student/course registration</a:t>
            </a:r>
            <a:endParaRPr lang="en-US" sz="950" dirty="0"/>
          </a:p>
        </p:txBody>
      </p:sp>
      <p:sp>
        <p:nvSpPr>
          <p:cNvPr id="16" name="Shape 11"/>
          <p:cNvSpPr/>
          <p:nvPr/>
        </p:nvSpPr>
        <p:spPr>
          <a:xfrm>
            <a:off x="7159752" y="4187952"/>
            <a:ext cx="4526280" cy="1792224"/>
          </a:xfrm>
          <a:prstGeom prst="roundRect">
            <a:avLst>
              <a:gd name="adj" fmla="val 4082"/>
            </a:avLst>
          </a:prstGeom>
          <a:solidFill>
            <a:srgbClr val="191D24"/>
          </a:solidFill>
          <a:ln w="12700">
            <a:solidFill>
              <a:srgbClr val="343B46"/>
            </a:solidFill>
            <a:prstDash val="solid"/>
          </a:ln>
        </p:spPr>
      </p:sp>
      <p:sp>
        <p:nvSpPr>
          <p:cNvPr id="17" name="Text 12"/>
          <p:cNvSpPr/>
          <p:nvPr/>
        </p:nvSpPr>
        <p:spPr>
          <a:xfrm>
            <a:off x="7424928" y="4443984"/>
            <a:ext cx="3931920" cy="256032"/>
          </a:xfrm>
          <a:prstGeom prst="rect">
            <a:avLst/>
          </a:prstGeom>
          <a:noFill/>
          <a:ln/>
        </p:spPr>
        <p:txBody>
          <a:bodyPr wrap="square" lIns="0" tIns="0" rIns="0" bIns="0" rtlCol="0" anchor="ctr"/>
          <a:lstStyle/>
          <a:p>
            <a:pPr indent="0" marL="0">
              <a:buNone/>
            </a:pPr>
            <a:r>
              <a:rPr lang="en-US" sz="1800" b="1" dirty="0">
                <a:solidFill>
                  <a:srgbClr val="5FA8FF"/>
                </a:solidFill>
              </a:rPr>
              <a:t>Behavior captured</a:t>
            </a:r>
            <a:endParaRPr lang="en-US" sz="1800" dirty="0"/>
          </a:p>
        </p:txBody>
      </p:sp>
      <p:sp>
        <p:nvSpPr>
          <p:cNvPr id="18" name="Text 13"/>
          <p:cNvSpPr/>
          <p:nvPr/>
        </p:nvSpPr>
        <p:spPr>
          <a:xfrm>
            <a:off x="7424928" y="4800600"/>
            <a:ext cx="3931920" cy="969264"/>
          </a:xfrm>
          <a:prstGeom prst="rect">
            <a:avLst/>
          </a:prstGeom>
          <a:noFill/>
          <a:ln/>
        </p:spPr>
        <p:txBody>
          <a:bodyPr wrap="square" lIns="508" tIns="508" rIns="508" bIns="508" rtlCol="0" anchor="ctr" vert="top"/>
          <a:lstStyle/>
          <a:p>
            <a:pPr marL="203200" indent="-203200">
              <a:buSzPct val="100000"/>
              <a:buChar char="•"/>
            </a:pPr>
            <a:r>
              <a:rPr lang="en-US" sz="1270" dirty="0">
                <a:solidFill>
                  <a:srgbClr val="E8ECF2"/>
                </a:solidFill>
                <a:latin typeface="Aptos" pitchFamily="34" charset="0"/>
                <a:ea typeface="Aptos" pitchFamily="34" charset="-122"/>
                <a:cs typeface="Aptos" pitchFamily="34" charset="-120"/>
              </a:rPr>
              <a:t>Capacity check determines enrollment or waitlist path.</a:t>
            </a:r>
            <a:endParaRPr lang="en-US" sz="1270" dirty="0"/>
          </a:p>
          <a:p>
            <a:pPr marL="203200" indent="-203200">
              <a:buSzPct val="100000"/>
              <a:buChar char="•"/>
            </a:pPr>
            <a:r>
              <a:rPr lang="en-US" sz="1270" dirty="0">
                <a:solidFill>
                  <a:srgbClr val="E8ECF2"/>
                </a:solidFill>
                <a:latin typeface="Aptos" pitchFamily="34" charset="0"/>
                <a:ea typeface="Aptos" pitchFamily="34" charset="-122"/>
                <a:cs typeface="Aptos" pitchFamily="34" charset="-120"/>
              </a:rPr>
              <a:t>Workflow links login, course selection, enrollment, waitlist, and cancellation.</a:t>
            </a:r>
            <a:endParaRPr lang="en-US" sz="1270" dirty="0"/>
          </a:p>
          <a:p>
            <a:pPr marL="203200" indent="-203200">
              <a:buSzPct val="100000"/>
              <a:buChar char="•"/>
            </a:pPr>
            <a:r>
              <a:rPr lang="en-US" sz="1270" dirty="0">
                <a:solidFill>
                  <a:srgbClr val="E8ECF2"/>
                </a:solidFill>
                <a:latin typeface="Aptos" pitchFamily="34" charset="0"/>
                <a:ea typeface="Aptos" pitchFamily="34" charset="-122"/>
                <a:cs typeface="Aptos" pitchFamily="34" charset="-120"/>
              </a:rPr>
              <a:t>State changes track Not Enrolled → Enrolled / Waitlisted → Canceled or Notified.</a:t>
            </a:r>
            <a:endParaRPr lang="en-US" sz="1270" dirty="0"/>
          </a:p>
        </p:txBody>
      </p:sp>
      <p:sp>
        <p:nvSpPr>
          <p:cNvPr id="19" name="Text 14"/>
          <p:cNvSpPr/>
          <p:nvPr/>
        </p:nvSpPr>
        <p:spPr>
          <a:xfrm>
            <a:off x="7132320" y="6473952"/>
            <a:ext cx="384048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(Ahmad et al., 2019)</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Landing, Login, and Registration Pages</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interface was intentionally simple so students could immediately understand the next action.</a:t>
            </a:r>
            <a:endParaRPr lang="en-US" sz="1250" dirty="0"/>
          </a:p>
        </p:txBody>
      </p:sp>
      <p:sp>
        <p:nvSpPr>
          <p:cNvPr id="4" name="Shape 2"/>
          <p:cNvSpPr/>
          <p:nvPr/>
        </p:nvSpPr>
        <p:spPr>
          <a:xfrm>
            <a:off x="530352" y="1325880"/>
            <a:ext cx="3657600" cy="4279392"/>
          </a:xfrm>
          <a:prstGeom prst="roundRect">
            <a:avLst>
              <a:gd name="adj" fmla="val 2000"/>
            </a:avLst>
          </a:prstGeom>
          <a:solidFill>
            <a:srgbClr val="20252E"/>
          </a:solidFill>
          <a:ln w="12700">
            <a:solidFill>
              <a:srgbClr val="343B46"/>
            </a:solidFill>
            <a:prstDash val="solid"/>
          </a:ln>
        </p:spPr>
      </p:sp>
      <p:pic>
        <p:nvPicPr>
          <p:cNvPr id="5" name="Image 0" descr="/mnt/data/rebuild_assets/Week_3_-_Assignment(20260907-215602)/image2.png">    </p:cNvPr>
          <p:cNvPicPr>
            <a:picLocks noChangeAspect="1"/>
          </p:cNvPicPr>
          <p:nvPr/>
        </p:nvPicPr>
        <p:blipFill>
          <a:blip r:embed="rId1"/>
          <a:stretch>
            <a:fillRect/>
          </a:stretch>
        </p:blipFill>
        <p:spPr>
          <a:xfrm>
            <a:off x="594360" y="1389888"/>
            <a:ext cx="3529584" cy="4151376"/>
          </a:xfrm>
          <a:prstGeom prst="rect">
            <a:avLst/>
          </a:prstGeom>
        </p:spPr>
      </p:pic>
      <p:sp>
        <p:nvSpPr>
          <p:cNvPr id="6" name="Shape 3"/>
          <p:cNvSpPr/>
          <p:nvPr/>
        </p:nvSpPr>
        <p:spPr>
          <a:xfrm>
            <a:off x="640080" y="5221224"/>
            <a:ext cx="1271016"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266944"/>
            <a:ext cx="3246120" cy="164592"/>
          </a:xfrm>
          <a:prstGeom prst="rect">
            <a:avLst/>
          </a:prstGeom>
          <a:noFill/>
          <a:ln/>
        </p:spPr>
        <p:txBody>
          <a:bodyPr wrap="square" lIns="0" tIns="0" rIns="0" bIns="0" rtlCol="0" anchor="ctr"/>
          <a:lstStyle/>
          <a:p>
            <a:pPr indent="0" marL="0">
              <a:buNone/>
            </a:pPr>
            <a:r>
              <a:rPr lang="en-US" sz="950" b="1" dirty="0">
                <a:solidFill>
                  <a:srgbClr val="F7F9FC"/>
                </a:solidFill>
              </a:rPr>
              <a:t>Landing page</a:t>
            </a:r>
            <a:endParaRPr lang="en-US" sz="950" dirty="0"/>
          </a:p>
        </p:txBody>
      </p:sp>
      <p:sp>
        <p:nvSpPr>
          <p:cNvPr id="8" name="Shape 5"/>
          <p:cNvSpPr/>
          <p:nvPr/>
        </p:nvSpPr>
        <p:spPr>
          <a:xfrm>
            <a:off x="4270248" y="1325880"/>
            <a:ext cx="3657600" cy="4279392"/>
          </a:xfrm>
          <a:prstGeom prst="roundRect">
            <a:avLst>
              <a:gd name="adj" fmla="val 2000"/>
            </a:avLst>
          </a:prstGeom>
          <a:solidFill>
            <a:srgbClr val="20252E"/>
          </a:solidFill>
          <a:ln w="12700">
            <a:solidFill>
              <a:srgbClr val="343B46"/>
            </a:solidFill>
            <a:prstDash val="solid"/>
          </a:ln>
        </p:spPr>
      </p:sp>
      <p:pic>
        <p:nvPicPr>
          <p:cNvPr id="9" name="Image 1" descr="/mnt/data/rebuild_assets/Week_3_-_Assignment(20260907-215602)/image3.png">    </p:cNvPr>
          <p:cNvPicPr>
            <a:picLocks noChangeAspect="1"/>
          </p:cNvPicPr>
          <p:nvPr/>
        </p:nvPicPr>
        <p:blipFill>
          <a:blip r:embed="rId2"/>
          <a:stretch>
            <a:fillRect/>
          </a:stretch>
        </p:blipFill>
        <p:spPr>
          <a:xfrm>
            <a:off x="4334256" y="1389888"/>
            <a:ext cx="3529584" cy="4151376"/>
          </a:xfrm>
          <a:prstGeom prst="rect">
            <a:avLst/>
          </a:prstGeom>
        </p:spPr>
      </p:pic>
      <p:sp>
        <p:nvSpPr>
          <p:cNvPr id="10" name="Shape 6"/>
          <p:cNvSpPr/>
          <p:nvPr/>
        </p:nvSpPr>
        <p:spPr>
          <a:xfrm>
            <a:off x="4379976" y="5221224"/>
            <a:ext cx="1143000"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4471416" y="5266944"/>
            <a:ext cx="3246120" cy="164592"/>
          </a:xfrm>
          <a:prstGeom prst="rect">
            <a:avLst/>
          </a:prstGeom>
          <a:noFill/>
          <a:ln/>
        </p:spPr>
        <p:txBody>
          <a:bodyPr wrap="square" lIns="0" tIns="0" rIns="0" bIns="0" rtlCol="0" anchor="ctr"/>
          <a:lstStyle/>
          <a:p>
            <a:pPr indent="0" marL="0">
              <a:buNone/>
            </a:pPr>
            <a:r>
              <a:rPr lang="en-US" sz="950" b="1" dirty="0">
                <a:solidFill>
                  <a:srgbClr val="F7F9FC"/>
                </a:solidFill>
              </a:rPr>
              <a:t>Login page</a:t>
            </a:r>
            <a:endParaRPr lang="en-US" sz="950" dirty="0"/>
          </a:p>
        </p:txBody>
      </p:sp>
      <p:sp>
        <p:nvSpPr>
          <p:cNvPr id="12" name="Shape 8"/>
          <p:cNvSpPr/>
          <p:nvPr/>
        </p:nvSpPr>
        <p:spPr>
          <a:xfrm>
            <a:off x="8010144" y="1325880"/>
            <a:ext cx="3657600" cy="4279392"/>
          </a:xfrm>
          <a:prstGeom prst="roundRect">
            <a:avLst>
              <a:gd name="adj" fmla="val 2000"/>
            </a:avLst>
          </a:prstGeom>
          <a:solidFill>
            <a:srgbClr val="20252E"/>
          </a:solidFill>
          <a:ln w="12700">
            <a:solidFill>
              <a:srgbClr val="343B46"/>
            </a:solidFill>
            <a:prstDash val="solid"/>
          </a:ln>
        </p:spPr>
      </p:sp>
      <p:pic>
        <p:nvPicPr>
          <p:cNvPr id="13" name="Image 2" descr="/mnt/data/rebuild_assets/Week_3_-_Assignment(20260907-215602)/image6.png">    </p:cNvPr>
          <p:cNvPicPr>
            <a:picLocks noChangeAspect="1"/>
          </p:cNvPicPr>
          <p:nvPr/>
        </p:nvPicPr>
        <p:blipFill>
          <a:blip r:embed="rId3"/>
          <a:stretch>
            <a:fillRect/>
          </a:stretch>
        </p:blipFill>
        <p:spPr>
          <a:xfrm>
            <a:off x="8074152" y="1389888"/>
            <a:ext cx="3529584" cy="4151376"/>
          </a:xfrm>
          <a:prstGeom prst="rect">
            <a:avLst/>
          </a:prstGeom>
        </p:spPr>
      </p:pic>
      <p:sp>
        <p:nvSpPr>
          <p:cNvPr id="14" name="Shape 9"/>
          <p:cNvSpPr/>
          <p:nvPr/>
        </p:nvSpPr>
        <p:spPr>
          <a:xfrm>
            <a:off x="8119872" y="5221224"/>
            <a:ext cx="1591056"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8211312" y="5266944"/>
            <a:ext cx="3246120" cy="164592"/>
          </a:xfrm>
          <a:prstGeom prst="rect">
            <a:avLst/>
          </a:prstGeom>
          <a:noFill/>
          <a:ln/>
        </p:spPr>
        <p:txBody>
          <a:bodyPr wrap="square" lIns="0" tIns="0" rIns="0" bIns="0" rtlCol="0" anchor="ctr"/>
          <a:lstStyle/>
          <a:p>
            <a:pPr indent="0" marL="0">
              <a:buNone/>
            </a:pPr>
            <a:r>
              <a:rPr lang="en-US" sz="950" b="1" dirty="0">
                <a:solidFill>
                  <a:srgbClr val="F7F9FC"/>
                </a:solidFill>
              </a:rPr>
              <a:t>Registration page</a:t>
            </a:r>
            <a:endParaRPr lang="en-US" sz="950" dirty="0"/>
          </a:p>
        </p:txBody>
      </p:sp>
      <p:sp>
        <p:nvSpPr>
          <p:cNvPr id="16" name="Text 11"/>
          <p:cNvSpPr/>
          <p:nvPr/>
        </p:nvSpPr>
        <p:spPr>
          <a:xfrm>
            <a:off x="749808" y="5715000"/>
            <a:ext cx="3200400" cy="256032"/>
          </a:xfrm>
          <a:prstGeom prst="rect">
            <a:avLst/>
          </a:prstGeom>
          <a:noFill/>
          <a:ln/>
        </p:spPr>
        <p:txBody>
          <a:bodyPr wrap="square" lIns="0" tIns="0" rIns="0" bIns="0" rtlCol="0" anchor="ctr"/>
          <a:lstStyle/>
          <a:p>
            <a:pPr algn="ctr" indent="0" marL="0">
              <a:buNone/>
            </a:pPr>
            <a:r>
              <a:rPr lang="en-US" sz="1250" b="1" dirty="0">
                <a:solidFill>
                  <a:srgbClr val="5FA8FF"/>
                </a:solidFill>
              </a:rPr>
              <a:t>Start / navigation</a:t>
            </a:r>
            <a:endParaRPr lang="en-US" sz="1250" dirty="0"/>
          </a:p>
        </p:txBody>
      </p:sp>
      <p:sp>
        <p:nvSpPr>
          <p:cNvPr id="17" name="Text 12"/>
          <p:cNvSpPr/>
          <p:nvPr/>
        </p:nvSpPr>
        <p:spPr>
          <a:xfrm>
            <a:off x="4434840" y="5715000"/>
            <a:ext cx="3310128" cy="256032"/>
          </a:xfrm>
          <a:prstGeom prst="rect">
            <a:avLst/>
          </a:prstGeom>
          <a:noFill/>
          <a:ln/>
        </p:spPr>
        <p:txBody>
          <a:bodyPr wrap="square" lIns="0" tIns="0" rIns="0" bIns="0" rtlCol="0" anchor="ctr"/>
          <a:lstStyle/>
          <a:p>
            <a:pPr algn="ctr" indent="0" marL="0">
              <a:buNone/>
            </a:pPr>
            <a:r>
              <a:rPr lang="en-US" sz="1250" b="1" dirty="0">
                <a:solidFill>
                  <a:srgbClr val="5FA8FF"/>
                </a:solidFill>
              </a:rPr>
              <a:t>Username + password authentication</a:t>
            </a:r>
            <a:endParaRPr lang="en-US" sz="1250" dirty="0"/>
          </a:p>
        </p:txBody>
      </p:sp>
      <p:sp>
        <p:nvSpPr>
          <p:cNvPr id="18" name="Text 13"/>
          <p:cNvSpPr/>
          <p:nvPr/>
        </p:nvSpPr>
        <p:spPr>
          <a:xfrm>
            <a:off x="8129016" y="5715000"/>
            <a:ext cx="3401568" cy="365760"/>
          </a:xfrm>
          <a:prstGeom prst="rect">
            <a:avLst/>
          </a:prstGeom>
          <a:noFill/>
          <a:ln/>
        </p:spPr>
        <p:txBody>
          <a:bodyPr wrap="square" lIns="0" tIns="0" rIns="0" bIns="0" rtlCol="0" anchor="ctr"/>
          <a:lstStyle/>
          <a:p>
            <a:pPr algn="ctr" indent="0" marL="0">
              <a:buNone/>
            </a:pPr>
            <a:r>
              <a:rPr lang="en-US" sz="1220" b="1" dirty="0">
                <a:solidFill>
                  <a:srgbClr val="5FA8FF"/>
                </a:solidFill>
              </a:rPr>
              <a:t>Name, email, username, password + confirmation</a:t>
            </a:r>
            <a:endParaRPr lang="en-US" sz="1220" dirty="0"/>
          </a:p>
        </p:txBody>
      </p:sp>
      <p:sp>
        <p:nvSpPr>
          <p:cNvPr id="19" name="Text 14"/>
          <p:cNvSpPr/>
          <p:nvPr/>
        </p:nvSpPr>
        <p:spPr>
          <a:xfrm>
            <a:off x="548640" y="6254496"/>
            <a:ext cx="6400800" cy="164592"/>
          </a:xfrm>
          <a:prstGeom prst="rect">
            <a:avLst/>
          </a:prstGeom>
          <a:noFill/>
          <a:ln/>
        </p:spPr>
        <p:txBody>
          <a:bodyPr wrap="square" lIns="0" tIns="0" rIns="0" bIns="0" rtlCol="0" anchor="ctr"/>
          <a:lstStyle/>
          <a:p>
            <a:pPr indent="0" marL="0">
              <a:buNone/>
            </a:pPr>
            <a:r>
              <a:rPr lang="en-US" sz="850" dirty="0">
                <a:solidFill>
                  <a:srgbClr val="7E8795"/>
                </a:solidFill>
                <a:latin typeface="Aptos" pitchFamily="34" charset="0"/>
                <a:ea typeface="Aptos" pitchFamily="34" charset="-122"/>
                <a:cs typeface="Aptos" pitchFamily="34" charset="-120"/>
              </a:rPr>
              <a:t>Source: Week 3 Assignment, Figures 2–3 and registration-page screenshot.</a:t>
            </a:r>
            <a:endParaRPr lang="en-US" sz="85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Database Connection and Registration Logic</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A reusable Database.php class and prepared SQL statements support secure account creation.</a:t>
            </a:r>
            <a:endParaRPr lang="en-US" sz="1250" dirty="0"/>
          </a:p>
        </p:txBody>
      </p:sp>
      <p:sp>
        <p:nvSpPr>
          <p:cNvPr id="4" name="Shape 2"/>
          <p:cNvSpPr/>
          <p:nvPr/>
        </p:nvSpPr>
        <p:spPr>
          <a:xfrm>
            <a:off x="530352" y="1261872"/>
            <a:ext cx="6400800" cy="4407408"/>
          </a:xfrm>
          <a:prstGeom prst="roundRect">
            <a:avLst>
              <a:gd name="adj" fmla="val 1660"/>
            </a:avLst>
          </a:prstGeom>
          <a:solidFill>
            <a:srgbClr val="F5F5F5"/>
          </a:solidFill>
          <a:ln w="12700">
            <a:solidFill>
              <a:srgbClr val="343B46"/>
            </a:solidFill>
            <a:prstDash val="solid"/>
          </a:ln>
        </p:spPr>
      </p:sp>
      <p:pic>
        <p:nvPicPr>
          <p:cNvPr id="5" name="Image 0" descr="/mnt/data/rebuild_assets/Week_3_-_Assignment(20260907-215602)/image5.png">    </p:cNvPr>
          <p:cNvPicPr>
            <a:picLocks noChangeAspect="1"/>
          </p:cNvPicPr>
          <p:nvPr/>
        </p:nvPicPr>
        <p:blipFill>
          <a:blip r:embed="rId1"/>
          <a:stretch>
            <a:fillRect/>
          </a:stretch>
        </p:blipFill>
        <p:spPr>
          <a:xfrm>
            <a:off x="576072" y="1307592"/>
            <a:ext cx="6309360" cy="4315968"/>
          </a:xfrm>
          <a:prstGeom prst="rect">
            <a:avLst/>
          </a:prstGeom>
        </p:spPr>
      </p:pic>
      <p:sp>
        <p:nvSpPr>
          <p:cNvPr id="6" name="Shape 3"/>
          <p:cNvSpPr/>
          <p:nvPr/>
        </p:nvSpPr>
        <p:spPr>
          <a:xfrm>
            <a:off x="640080" y="5285232"/>
            <a:ext cx="3383280"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330952"/>
            <a:ext cx="5989320" cy="164592"/>
          </a:xfrm>
          <a:prstGeom prst="rect">
            <a:avLst/>
          </a:prstGeom>
          <a:noFill/>
          <a:ln/>
        </p:spPr>
        <p:txBody>
          <a:bodyPr wrap="square" lIns="0" tIns="0" rIns="0" bIns="0" rtlCol="0" anchor="ctr"/>
          <a:lstStyle/>
          <a:p>
            <a:pPr indent="0" marL="0">
              <a:buNone/>
            </a:pPr>
            <a:r>
              <a:rPr lang="en-US" sz="950" b="1" dirty="0">
                <a:solidFill>
                  <a:srgbClr val="F7F9FC"/>
                </a:solidFill>
              </a:rPr>
              <a:t>Database.php — custom MySQLi connection class</a:t>
            </a:r>
            <a:endParaRPr lang="en-US" sz="950" dirty="0"/>
          </a:p>
        </p:txBody>
      </p:sp>
      <p:sp>
        <p:nvSpPr>
          <p:cNvPr id="8" name="Shape 5"/>
          <p:cNvSpPr/>
          <p:nvPr/>
        </p:nvSpPr>
        <p:spPr>
          <a:xfrm>
            <a:off x="7132320" y="1261872"/>
            <a:ext cx="4553712" cy="2907792"/>
          </a:xfrm>
          <a:prstGeom prst="roundRect">
            <a:avLst>
              <a:gd name="adj" fmla="val 2516"/>
            </a:avLst>
          </a:prstGeom>
          <a:solidFill>
            <a:srgbClr val="20252E"/>
          </a:solidFill>
          <a:ln w="12700">
            <a:solidFill>
              <a:srgbClr val="343B46"/>
            </a:solidFill>
            <a:prstDash val="solid"/>
          </a:ln>
        </p:spPr>
      </p:sp>
      <p:pic>
        <p:nvPicPr>
          <p:cNvPr id="9" name="Image 1" descr="/mnt/data/rebuild_assets/Week_3_-_Assignment(20260907-215602)/image6.png">    </p:cNvPr>
          <p:cNvPicPr>
            <a:picLocks noChangeAspect="1"/>
          </p:cNvPicPr>
          <p:nvPr/>
        </p:nvPicPr>
        <p:blipFill>
          <a:blip r:embed="rId2"/>
          <a:stretch>
            <a:fillRect/>
          </a:stretch>
        </p:blipFill>
        <p:spPr>
          <a:xfrm>
            <a:off x="7196328" y="1325880"/>
            <a:ext cx="4425696" cy="2779776"/>
          </a:xfrm>
          <a:prstGeom prst="rect">
            <a:avLst/>
          </a:prstGeom>
        </p:spPr>
      </p:pic>
      <p:sp>
        <p:nvSpPr>
          <p:cNvPr id="10" name="Shape 6"/>
          <p:cNvSpPr/>
          <p:nvPr/>
        </p:nvSpPr>
        <p:spPr>
          <a:xfrm>
            <a:off x="7242048" y="3785616"/>
            <a:ext cx="1591056"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7333488" y="3831336"/>
            <a:ext cx="4142232" cy="164592"/>
          </a:xfrm>
          <a:prstGeom prst="rect">
            <a:avLst/>
          </a:prstGeom>
          <a:noFill/>
          <a:ln/>
        </p:spPr>
        <p:txBody>
          <a:bodyPr wrap="square" lIns="0" tIns="0" rIns="0" bIns="0" rtlCol="0" anchor="ctr"/>
          <a:lstStyle/>
          <a:p>
            <a:pPr indent="0" marL="0">
              <a:buNone/>
            </a:pPr>
            <a:r>
              <a:rPr lang="en-US" sz="950" b="1" dirty="0">
                <a:solidFill>
                  <a:srgbClr val="F7F9FC"/>
                </a:solidFill>
              </a:rPr>
              <a:t>Registration form</a:t>
            </a:r>
            <a:endParaRPr lang="en-US" sz="950" dirty="0"/>
          </a:p>
        </p:txBody>
      </p:sp>
      <p:sp>
        <p:nvSpPr>
          <p:cNvPr id="12" name="Shape 8"/>
          <p:cNvSpPr/>
          <p:nvPr/>
        </p:nvSpPr>
        <p:spPr>
          <a:xfrm>
            <a:off x="7132320" y="4352544"/>
            <a:ext cx="4553712" cy="1316736"/>
          </a:xfrm>
          <a:prstGeom prst="roundRect">
            <a:avLst>
              <a:gd name="adj" fmla="val 5556"/>
            </a:avLst>
          </a:prstGeom>
          <a:solidFill>
            <a:srgbClr val="191D24"/>
          </a:solidFill>
          <a:ln w="12700">
            <a:solidFill>
              <a:srgbClr val="343B46"/>
            </a:solidFill>
            <a:prstDash val="solid"/>
          </a:ln>
        </p:spPr>
      </p:sp>
      <p:sp>
        <p:nvSpPr>
          <p:cNvPr id="13" name="Text 9"/>
          <p:cNvSpPr/>
          <p:nvPr/>
        </p:nvSpPr>
        <p:spPr>
          <a:xfrm>
            <a:off x="7351776" y="4498848"/>
            <a:ext cx="4096512" cy="1033272"/>
          </a:xfrm>
          <a:prstGeom prst="rect">
            <a:avLst/>
          </a:prstGeom>
          <a:noFill/>
          <a:ln/>
        </p:spPr>
        <p:txBody>
          <a:bodyPr wrap="square" lIns="508" tIns="508" rIns="508" bIns="508" rtlCol="0" anchor="ctr" vert="top"/>
          <a:lstStyle/>
          <a:p>
            <a:pPr marL="203200" indent="-203200">
              <a:buSzPct val="100000"/>
              <a:buChar char="•"/>
            </a:pPr>
            <a:r>
              <a:rPr lang="en-US" sz="1260" dirty="0">
                <a:solidFill>
                  <a:srgbClr val="E8ECF2"/>
                </a:solidFill>
                <a:latin typeface="Aptos" pitchFamily="34" charset="0"/>
                <a:ea typeface="Aptos" pitchFamily="34" charset="-122"/>
                <a:cs typeface="Aptos" pitchFamily="34" charset="-120"/>
              </a:rPr>
              <a:t>Database.php centralizes host, user, password, and database settings.</a:t>
            </a:r>
            <a:endParaRPr lang="en-US" sz="1260" dirty="0"/>
          </a:p>
          <a:p>
            <a:pPr marL="203200" indent="-203200">
              <a:buSzPct val="100000"/>
              <a:buChar char="•"/>
            </a:pPr>
            <a:r>
              <a:rPr lang="en-US" sz="1260" dirty="0">
                <a:solidFill>
                  <a:srgbClr val="E8ECF2"/>
                </a:solidFill>
                <a:latin typeface="Aptos" pitchFamily="34" charset="0"/>
                <a:ea typeface="Aptos" pitchFamily="34" charset="-122"/>
                <a:cs typeface="Aptos" pitchFamily="34" charset="-120"/>
              </a:rPr>
              <a:t>Registration validates required fields and matching passwords.</a:t>
            </a:r>
            <a:endParaRPr lang="en-US" sz="1260" dirty="0"/>
          </a:p>
          <a:p>
            <a:pPr marL="203200" indent="-203200">
              <a:buSzPct val="100000"/>
              <a:buChar char="•"/>
            </a:pPr>
            <a:r>
              <a:rPr lang="en-US" sz="1260" dirty="0">
                <a:solidFill>
                  <a:srgbClr val="E8ECF2"/>
                </a:solidFill>
                <a:latin typeface="Aptos" pitchFamily="34" charset="0"/>
                <a:ea typeface="Aptos" pitchFamily="34" charset="-122"/>
                <a:cs typeface="Aptos" pitchFamily="34" charset="-120"/>
              </a:rPr>
              <a:t>password_hash() stores a one-way password hash.</a:t>
            </a:r>
            <a:endParaRPr lang="en-US" sz="1260" dirty="0"/>
          </a:p>
          <a:p>
            <a:pPr marL="203200" indent="-203200">
              <a:buSzPct val="100000"/>
              <a:buChar char="•"/>
            </a:pPr>
            <a:r>
              <a:rPr lang="en-US" sz="1260" dirty="0">
                <a:solidFill>
                  <a:srgbClr val="E8ECF2"/>
                </a:solidFill>
                <a:latin typeface="Aptos" pitchFamily="34" charset="0"/>
                <a:ea typeface="Aptos" pitchFamily="34" charset="-122"/>
                <a:cs typeface="Aptos" pitchFamily="34" charset="-120"/>
              </a:rPr>
              <a:t>Prepared statements separate SQL from user-supplied values.</a:t>
            </a:r>
            <a:endParaRPr lang="en-US" sz="1260" dirty="0"/>
          </a:p>
        </p:txBody>
      </p:sp>
      <p:sp>
        <p:nvSpPr>
          <p:cNvPr id="14" name="Text 10"/>
          <p:cNvSpPr/>
          <p:nvPr/>
        </p:nvSpPr>
        <p:spPr>
          <a:xfrm>
            <a:off x="7132320" y="6473952"/>
            <a:ext cx="384048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(Halfond et al., 2006)</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MySQL Relational Database Design</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student_portal database separates users, courses, and enrollment relationships.</a:t>
            </a:r>
            <a:endParaRPr lang="en-US" sz="1250" dirty="0"/>
          </a:p>
        </p:txBody>
      </p:sp>
      <p:sp>
        <p:nvSpPr>
          <p:cNvPr id="4" name="Shape 2"/>
          <p:cNvSpPr/>
          <p:nvPr/>
        </p:nvSpPr>
        <p:spPr>
          <a:xfrm>
            <a:off x="530352" y="1261872"/>
            <a:ext cx="3886200" cy="4535424"/>
          </a:xfrm>
          <a:prstGeom prst="roundRect">
            <a:avLst>
              <a:gd name="adj" fmla="val 1882"/>
            </a:avLst>
          </a:prstGeom>
          <a:solidFill>
            <a:srgbClr val="20252E"/>
          </a:solidFill>
          <a:ln w="12700">
            <a:solidFill>
              <a:srgbClr val="343B46"/>
            </a:solidFill>
            <a:prstDash val="solid"/>
          </a:ln>
        </p:spPr>
      </p:sp>
      <p:pic>
        <p:nvPicPr>
          <p:cNvPr id="5" name="Image 0" descr="/mnt/data/rebuild_assets/Week_4_-_Assignment(20260907-215607)/image2.png">    </p:cNvPr>
          <p:cNvPicPr>
            <a:picLocks noChangeAspect="1"/>
          </p:cNvPicPr>
          <p:nvPr/>
        </p:nvPicPr>
        <p:blipFill>
          <a:blip r:embed="rId1"/>
          <a:stretch>
            <a:fillRect/>
          </a:stretch>
        </p:blipFill>
        <p:spPr>
          <a:xfrm>
            <a:off x="576072" y="1307592"/>
            <a:ext cx="3794760" cy="4443984"/>
          </a:xfrm>
          <a:prstGeom prst="rect">
            <a:avLst/>
          </a:prstGeom>
        </p:spPr>
      </p:pic>
      <p:sp>
        <p:nvSpPr>
          <p:cNvPr id="6" name="Shape 3"/>
          <p:cNvSpPr/>
          <p:nvPr/>
        </p:nvSpPr>
        <p:spPr>
          <a:xfrm>
            <a:off x="640080" y="5413248"/>
            <a:ext cx="2679192"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458968"/>
            <a:ext cx="3474720" cy="164592"/>
          </a:xfrm>
          <a:prstGeom prst="rect">
            <a:avLst/>
          </a:prstGeom>
          <a:noFill/>
          <a:ln/>
        </p:spPr>
        <p:txBody>
          <a:bodyPr wrap="square" lIns="0" tIns="0" rIns="0" bIns="0" rtlCol="0" anchor="ctr"/>
          <a:lstStyle/>
          <a:p>
            <a:pPr indent="0" marL="0">
              <a:buNone/>
            </a:pPr>
            <a:r>
              <a:rPr lang="en-US" sz="950" b="1" dirty="0">
                <a:solidFill>
                  <a:srgbClr val="F7F9FC"/>
                </a:solidFill>
              </a:rPr>
              <a:t>phpMyAdmin — student_portal tables</a:t>
            </a:r>
            <a:endParaRPr lang="en-US" sz="950" dirty="0"/>
          </a:p>
        </p:txBody>
      </p:sp>
      <p:sp>
        <p:nvSpPr>
          <p:cNvPr id="8" name="Shape 5"/>
          <p:cNvSpPr/>
          <p:nvPr/>
        </p:nvSpPr>
        <p:spPr>
          <a:xfrm>
            <a:off x="4590288" y="1261872"/>
            <a:ext cx="7095744" cy="2139696"/>
          </a:xfrm>
          <a:prstGeom prst="roundRect">
            <a:avLst>
              <a:gd name="adj" fmla="val 3419"/>
            </a:avLst>
          </a:prstGeom>
          <a:solidFill>
            <a:srgbClr val="20252E"/>
          </a:solidFill>
          <a:ln w="12700">
            <a:solidFill>
              <a:srgbClr val="343B46"/>
            </a:solidFill>
            <a:prstDash val="solid"/>
          </a:ln>
        </p:spPr>
      </p:sp>
      <p:pic>
        <p:nvPicPr>
          <p:cNvPr id="9" name="Image 1" descr="/mnt/data/rebuild_assets/Week_4_-_Assignment(20260907-215607)/image3.png">    </p:cNvPr>
          <p:cNvPicPr>
            <a:picLocks noChangeAspect="1"/>
          </p:cNvPicPr>
          <p:nvPr/>
        </p:nvPicPr>
        <p:blipFill>
          <a:blip r:embed="rId2"/>
          <a:stretch>
            <a:fillRect/>
          </a:stretch>
        </p:blipFill>
        <p:spPr>
          <a:xfrm>
            <a:off x="4626864" y="1298448"/>
            <a:ext cx="7022592" cy="2066544"/>
          </a:xfrm>
          <a:prstGeom prst="rect">
            <a:avLst/>
          </a:prstGeom>
        </p:spPr>
      </p:pic>
      <p:sp>
        <p:nvSpPr>
          <p:cNvPr id="10" name="Shape 6"/>
          <p:cNvSpPr/>
          <p:nvPr/>
        </p:nvSpPr>
        <p:spPr>
          <a:xfrm>
            <a:off x="4700016" y="3017520"/>
            <a:ext cx="2871216"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4791456" y="3063240"/>
            <a:ext cx="6684264" cy="164592"/>
          </a:xfrm>
          <a:prstGeom prst="rect">
            <a:avLst/>
          </a:prstGeom>
          <a:noFill/>
          <a:ln/>
        </p:spPr>
        <p:txBody>
          <a:bodyPr wrap="square" lIns="0" tIns="0" rIns="0" bIns="0" rtlCol="0" anchor="ctr"/>
          <a:lstStyle/>
          <a:p>
            <a:pPr indent="0" marL="0">
              <a:buNone/>
            </a:pPr>
            <a:r>
              <a:rPr lang="en-US" sz="950" b="1" dirty="0">
                <a:solidFill>
                  <a:srgbClr val="F7F9FC"/>
                </a:solidFill>
              </a:rPr>
              <a:t>courses table and test course records</a:t>
            </a:r>
            <a:endParaRPr lang="en-US" sz="950" dirty="0"/>
          </a:p>
        </p:txBody>
      </p:sp>
      <p:sp>
        <p:nvSpPr>
          <p:cNvPr id="12" name="Shape 8"/>
          <p:cNvSpPr/>
          <p:nvPr/>
        </p:nvSpPr>
        <p:spPr>
          <a:xfrm>
            <a:off x="4590288" y="3602736"/>
            <a:ext cx="7095744" cy="2194560"/>
          </a:xfrm>
          <a:prstGeom prst="roundRect">
            <a:avLst>
              <a:gd name="adj" fmla="val 3333"/>
            </a:avLst>
          </a:prstGeom>
          <a:solidFill>
            <a:srgbClr val="20252E"/>
          </a:solidFill>
          <a:ln w="12700">
            <a:solidFill>
              <a:srgbClr val="343B46"/>
            </a:solidFill>
            <a:prstDash val="solid"/>
          </a:ln>
        </p:spPr>
      </p:sp>
      <p:pic>
        <p:nvPicPr>
          <p:cNvPr id="13" name="Image 2" descr="/mnt/data/rebuild_assets/Week_3_-_Assignment(20260907-215602)/image4.png">    </p:cNvPr>
          <p:cNvPicPr>
            <a:picLocks noChangeAspect="1"/>
          </p:cNvPicPr>
          <p:nvPr/>
        </p:nvPicPr>
        <p:blipFill>
          <a:blip r:embed="rId3"/>
          <a:stretch>
            <a:fillRect/>
          </a:stretch>
        </p:blipFill>
        <p:spPr>
          <a:xfrm>
            <a:off x="4626864" y="3639312"/>
            <a:ext cx="7022592" cy="2121408"/>
          </a:xfrm>
          <a:prstGeom prst="rect">
            <a:avLst/>
          </a:prstGeom>
        </p:spPr>
      </p:pic>
      <p:sp>
        <p:nvSpPr>
          <p:cNvPr id="14" name="Shape 9"/>
          <p:cNvSpPr/>
          <p:nvPr/>
        </p:nvSpPr>
        <p:spPr>
          <a:xfrm>
            <a:off x="4700016" y="5413248"/>
            <a:ext cx="3703320"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4791456" y="5458968"/>
            <a:ext cx="6684264" cy="164592"/>
          </a:xfrm>
          <a:prstGeom prst="rect">
            <a:avLst/>
          </a:prstGeom>
          <a:noFill/>
          <a:ln/>
        </p:spPr>
        <p:txBody>
          <a:bodyPr wrap="square" lIns="0" tIns="0" rIns="0" bIns="0" rtlCol="0" anchor="ctr"/>
          <a:lstStyle/>
          <a:p>
            <a:pPr indent="0" marL="0">
              <a:buNone/>
            </a:pPr>
            <a:r>
              <a:rPr lang="en-US" sz="950" b="1" dirty="0">
                <a:solidFill>
                  <a:srgbClr val="F7F9FC"/>
                </a:solidFill>
              </a:rPr>
              <a:t>users table structure / stored registration record</a:t>
            </a:r>
            <a:endParaRPr lang="en-US" sz="950" dirty="0"/>
          </a:p>
        </p:txBody>
      </p:sp>
      <p:sp>
        <p:nvSpPr>
          <p:cNvPr id="16" name="Shape 11"/>
          <p:cNvSpPr/>
          <p:nvPr/>
        </p:nvSpPr>
        <p:spPr>
          <a:xfrm>
            <a:off x="777240" y="5285232"/>
            <a:ext cx="3401568" cy="530352"/>
          </a:xfrm>
          <a:prstGeom prst="roundRect">
            <a:avLst/>
          </a:prstGeom>
          <a:solidFill>
            <a:srgbClr val="3A7BD5">
              <a:alpha val="92000"/>
            </a:srgbClr>
          </a:solidFill>
          <a:ln w="12700">
            <a:solidFill>
              <a:srgbClr val="3A7BD5">
                <a:alpha val="60000"/>
              </a:srgbClr>
            </a:solidFill>
            <a:prstDash val="solid"/>
          </a:ln>
        </p:spPr>
      </p:sp>
      <p:sp>
        <p:nvSpPr>
          <p:cNvPr id="17" name="Text 12"/>
          <p:cNvSpPr/>
          <p:nvPr/>
        </p:nvSpPr>
        <p:spPr>
          <a:xfrm>
            <a:off x="923544" y="5376672"/>
            <a:ext cx="3108960" cy="365760"/>
          </a:xfrm>
          <a:prstGeom prst="rect">
            <a:avLst/>
          </a:prstGeom>
          <a:noFill/>
          <a:ln/>
        </p:spPr>
        <p:txBody>
          <a:bodyPr wrap="square" lIns="0" tIns="0" rIns="0" bIns="0" rtlCol="0" anchor="ctr"/>
          <a:lstStyle/>
          <a:p>
            <a:pPr algn="ctr" indent="0" marL="0">
              <a:buNone/>
            </a:pPr>
            <a:r>
              <a:rPr lang="en-US" sz="1350" b="1" dirty="0">
                <a:solidFill>
                  <a:srgbClr val="F7F9FC"/>
                </a:solidFill>
              </a:rPr>
              <a:t>users  ↔  enrollments  ↔  courses</a:t>
            </a:r>
            <a:endParaRPr lang="en-US" sz="1350" dirty="0"/>
          </a:p>
        </p:txBody>
      </p:sp>
      <p:sp>
        <p:nvSpPr>
          <p:cNvPr id="18" name="Text 13"/>
          <p:cNvSpPr/>
          <p:nvPr/>
        </p:nvSpPr>
        <p:spPr>
          <a:xfrm>
            <a:off x="4718304" y="5961888"/>
            <a:ext cx="6766560" cy="310896"/>
          </a:xfrm>
          <a:prstGeom prst="rect">
            <a:avLst/>
          </a:prstGeom>
          <a:noFill/>
          <a:ln/>
        </p:spPr>
        <p:txBody>
          <a:bodyPr wrap="square" lIns="0" tIns="0" rIns="0" bIns="0" rtlCol="0" anchor="ctr"/>
          <a:lstStyle/>
          <a:p>
            <a:pPr algn="ctr" indent="0" marL="0">
              <a:buNone/>
            </a:pPr>
            <a:r>
              <a:rPr lang="en-US" sz="1240" dirty="0">
                <a:solidFill>
                  <a:srgbClr val="E8ECF2"/>
                </a:solidFill>
              </a:rPr>
              <a:t>Primary keys identify records. Foreign keys in enrollments connect students to courses. A unique user/course combination prevents duplicate enrollment.</a:t>
            </a:r>
            <a:endParaRPr lang="en-US" sz="1240" dirty="0"/>
          </a:p>
        </p:txBody>
      </p:sp>
      <p:sp>
        <p:nvSpPr>
          <p:cNvPr id="19" name="Text 14"/>
          <p:cNvSpPr/>
          <p:nvPr/>
        </p:nvSpPr>
        <p:spPr>
          <a:xfrm>
            <a:off x="7132320" y="6473952"/>
            <a:ext cx="384048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(Codd, 1970)</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Class Registration and Enrollment Records</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registration page reads available courses and writes the student-course relationship to MySQL.</a:t>
            </a:r>
            <a:endParaRPr lang="en-US" sz="1250" dirty="0"/>
          </a:p>
        </p:txBody>
      </p:sp>
      <p:sp>
        <p:nvSpPr>
          <p:cNvPr id="4" name="Shape 2"/>
          <p:cNvSpPr/>
          <p:nvPr/>
        </p:nvSpPr>
        <p:spPr>
          <a:xfrm>
            <a:off x="530352" y="1261872"/>
            <a:ext cx="5779008" cy="4553712"/>
          </a:xfrm>
          <a:prstGeom prst="roundRect">
            <a:avLst>
              <a:gd name="adj" fmla="val 1606"/>
            </a:avLst>
          </a:prstGeom>
          <a:solidFill>
            <a:srgbClr val="20252E"/>
          </a:solidFill>
          <a:ln w="12700">
            <a:solidFill>
              <a:srgbClr val="343B46"/>
            </a:solidFill>
            <a:prstDash val="solid"/>
          </a:ln>
        </p:spPr>
      </p:sp>
      <p:pic>
        <p:nvPicPr>
          <p:cNvPr id="5" name="Image 0" descr="/mnt/data/rebuild_assets/Week_4_assignment_screenshots/image4.png">    </p:cNvPr>
          <p:cNvPicPr>
            <a:picLocks noChangeAspect="1"/>
          </p:cNvPicPr>
          <p:nvPr/>
        </p:nvPicPr>
        <p:blipFill>
          <a:blip r:embed="rId1"/>
          <a:stretch>
            <a:fillRect/>
          </a:stretch>
        </p:blipFill>
        <p:spPr>
          <a:xfrm>
            <a:off x="585216" y="1316736"/>
            <a:ext cx="5669280" cy="4443984"/>
          </a:xfrm>
          <a:prstGeom prst="rect">
            <a:avLst/>
          </a:prstGeom>
        </p:spPr>
      </p:pic>
      <p:sp>
        <p:nvSpPr>
          <p:cNvPr id="6" name="Shape 3"/>
          <p:cNvSpPr/>
          <p:nvPr/>
        </p:nvSpPr>
        <p:spPr>
          <a:xfrm>
            <a:off x="640080" y="5431536"/>
            <a:ext cx="2999232"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477256"/>
            <a:ext cx="5367528" cy="164592"/>
          </a:xfrm>
          <a:prstGeom prst="rect">
            <a:avLst/>
          </a:prstGeom>
          <a:noFill/>
          <a:ln/>
        </p:spPr>
        <p:txBody>
          <a:bodyPr wrap="square" lIns="0" tIns="0" rIns="0" bIns="0" rtlCol="0" anchor="ctr"/>
          <a:lstStyle/>
          <a:p>
            <a:pPr indent="0" marL="0">
              <a:buNone/>
            </a:pPr>
            <a:r>
              <a:rPr lang="en-US" sz="950" b="1" dirty="0">
                <a:solidFill>
                  <a:srgbClr val="F7F9FC"/>
                </a:solidFill>
              </a:rPr>
              <a:t>Successful course registration — Week 4</a:t>
            </a:r>
            <a:endParaRPr lang="en-US" sz="950" dirty="0"/>
          </a:p>
        </p:txBody>
      </p:sp>
      <p:sp>
        <p:nvSpPr>
          <p:cNvPr id="8" name="Shape 5"/>
          <p:cNvSpPr/>
          <p:nvPr/>
        </p:nvSpPr>
        <p:spPr>
          <a:xfrm>
            <a:off x="6519672" y="1261872"/>
            <a:ext cx="5166360" cy="2084832"/>
          </a:xfrm>
          <a:prstGeom prst="roundRect">
            <a:avLst>
              <a:gd name="adj" fmla="val 3509"/>
            </a:avLst>
          </a:prstGeom>
          <a:solidFill>
            <a:srgbClr val="20252E"/>
          </a:solidFill>
          <a:ln w="12700">
            <a:solidFill>
              <a:srgbClr val="343B46"/>
            </a:solidFill>
            <a:prstDash val="solid"/>
          </a:ln>
        </p:spPr>
      </p:sp>
      <p:pic>
        <p:nvPicPr>
          <p:cNvPr id="9" name="Image 1" descr="/mnt/data/rebuild_assets/Week_4_assignment_screenshots/image2.png">    </p:cNvPr>
          <p:cNvPicPr>
            <a:picLocks noChangeAspect="1"/>
          </p:cNvPicPr>
          <p:nvPr/>
        </p:nvPicPr>
        <p:blipFill>
          <a:blip r:embed="rId2"/>
          <a:stretch>
            <a:fillRect/>
          </a:stretch>
        </p:blipFill>
        <p:spPr>
          <a:xfrm>
            <a:off x="6556248" y="1298448"/>
            <a:ext cx="5093208" cy="2011680"/>
          </a:xfrm>
          <a:prstGeom prst="rect">
            <a:avLst/>
          </a:prstGeom>
        </p:spPr>
      </p:pic>
      <p:sp>
        <p:nvSpPr>
          <p:cNvPr id="10" name="Shape 6"/>
          <p:cNvSpPr/>
          <p:nvPr/>
        </p:nvSpPr>
        <p:spPr>
          <a:xfrm>
            <a:off x="6629400" y="2962656"/>
            <a:ext cx="2807208"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6720840" y="3008376"/>
            <a:ext cx="4754880" cy="164592"/>
          </a:xfrm>
          <a:prstGeom prst="rect">
            <a:avLst/>
          </a:prstGeom>
          <a:noFill/>
          <a:ln/>
        </p:spPr>
        <p:txBody>
          <a:bodyPr wrap="square" lIns="0" tIns="0" rIns="0" bIns="0" rtlCol="0" anchor="ctr"/>
          <a:lstStyle/>
          <a:p>
            <a:pPr indent="0" marL="0">
              <a:buNone/>
            </a:pPr>
            <a:r>
              <a:rPr lang="en-US" sz="950" b="1" dirty="0">
                <a:solidFill>
                  <a:srgbClr val="F7F9FC"/>
                </a:solidFill>
              </a:rPr>
              <a:t>enrollments table after first course</a:t>
            </a:r>
            <a:endParaRPr lang="en-US" sz="950" dirty="0"/>
          </a:p>
        </p:txBody>
      </p:sp>
      <p:sp>
        <p:nvSpPr>
          <p:cNvPr id="12" name="Shape 8"/>
          <p:cNvSpPr/>
          <p:nvPr/>
        </p:nvSpPr>
        <p:spPr>
          <a:xfrm>
            <a:off x="6519672" y="3566160"/>
            <a:ext cx="5166360" cy="2249424"/>
          </a:xfrm>
          <a:prstGeom prst="roundRect">
            <a:avLst>
              <a:gd name="adj" fmla="val 3252"/>
            </a:avLst>
          </a:prstGeom>
          <a:solidFill>
            <a:srgbClr val="20252E"/>
          </a:solidFill>
          <a:ln w="12700">
            <a:solidFill>
              <a:srgbClr val="343B46"/>
            </a:solidFill>
            <a:prstDash val="solid"/>
          </a:ln>
        </p:spPr>
      </p:sp>
      <p:pic>
        <p:nvPicPr>
          <p:cNvPr id="13" name="Image 2" descr="/mnt/data/rebuild_assets/Week_4_assignment_screenshots/image3.png">    </p:cNvPr>
          <p:cNvPicPr>
            <a:picLocks noChangeAspect="1"/>
          </p:cNvPicPr>
          <p:nvPr/>
        </p:nvPicPr>
        <p:blipFill>
          <a:blip r:embed="rId3"/>
          <a:stretch>
            <a:fillRect/>
          </a:stretch>
        </p:blipFill>
        <p:spPr>
          <a:xfrm>
            <a:off x="6556248" y="3602736"/>
            <a:ext cx="5093208" cy="2176272"/>
          </a:xfrm>
          <a:prstGeom prst="rect">
            <a:avLst/>
          </a:prstGeom>
        </p:spPr>
      </p:pic>
      <p:sp>
        <p:nvSpPr>
          <p:cNvPr id="14" name="Shape 9"/>
          <p:cNvSpPr/>
          <p:nvPr/>
        </p:nvSpPr>
        <p:spPr>
          <a:xfrm>
            <a:off x="6629400" y="5431536"/>
            <a:ext cx="2359152"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6720840" y="5477256"/>
            <a:ext cx="4754880" cy="164592"/>
          </a:xfrm>
          <a:prstGeom prst="rect">
            <a:avLst/>
          </a:prstGeom>
          <a:noFill/>
          <a:ln/>
        </p:spPr>
        <p:txBody>
          <a:bodyPr wrap="square" lIns="0" tIns="0" rIns="0" bIns="0" rtlCol="0" anchor="ctr"/>
          <a:lstStyle/>
          <a:p>
            <a:pPr indent="0" marL="0">
              <a:buNone/>
            </a:pPr>
            <a:r>
              <a:rPr lang="en-US" sz="950" b="1" dirty="0">
                <a:solidFill>
                  <a:srgbClr val="F7F9FC"/>
                </a:solidFill>
              </a:rPr>
              <a:t>additional enrollment records</a:t>
            </a:r>
            <a:endParaRPr lang="en-US" sz="950" dirty="0"/>
          </a:p>
        </p:txBody>
      </p:sp>
      <p:sp>
        <p:nvSpPr>
          <p:cNvPr id="16" name="Shape 11"/>
          <p:cNvSpPr/>
          <p:nvPr/>
        </p:nvSpPr>
        <p:spPr>
          <a:xfrm>
            <a:off x="1005840" y="5961888"/>
            <a:ext cx="4864608" cy="493776"/>
          </a:xfrm>
          <a:prstGeom prst="roundRect">
            <a:avLst/>
          </a:prstGeom>
          <a:solidFill>
            <a:srgbClr val="54B689">
              <a:alpha val="92000"/>
            </a:srgbClr>
          </a:solidFill>
          <a:ln w="12700">
            <a:solidFill>
              <a:srgbClr val="54B689">
                <a:alpha val="60000"/>
              </a:srgbClr>
            </a:solidFill>
            <a:prstDash val="solid"/>
          </a:ln>
        </p:spPr>
      </p:sp>
      <p:sp>
        <p:nvSpPr>
          <p:cNvPr id="17" name="Text 12"/>
          <p:cNvSpPr/>
          <p:nvPr/>
        </p:nvSpPr>
        <p:spPr>
          <a:xfrm>
            <a:off x="1152144" y="6053328"/>
            <a:ext cx="4572000" cy="329184"/>
          </a:xfrm>
          <a:prstGeom prst="rect">
            <a:avLst/>
          </a:prstGeom>
          <a:noFill/>
          <a:ln/>
        </p:spPr>
        <p:txBody>
          <a:bodyPr wrap="square" lIns="0" tIns="0" rIns="0" bIns="0" rtlCol="0" anchor="ctr"/>
          <a:lstStyle/>
          <a:p>
            <a:pPr algn="ctr" indent="0" marL="0">
              <a:buNone/>
            </a:pPr>
            <a:r>
              <a:rPr lang="en-US" sz="1350" b="1" dirty="0">
                <a:solidFill>
                  <a:srgbClr val="F7F9FC"/>
                </a:solidFill>
              </a:rPr>
              <a:t>SELECT courses  →  POST course_id  →  INSERT enrollment</a:t>
            </a:r>
            <a:endParaRPr lang="en-US" sz="1350" dirty="0"/>
          </a:p>
        </p:txBody>
      </p:sp>
      <p:sp>
        <p:nvSpPr>
          <p:cNvPr id="18" name="Text 13"/>
          <p:cNvSpPr/>
          <p:nvPr/>
        </p:nvSpPr>
        <p:spPr>
          <a:xfrm>
            <a:off x="6565392" y="6126480"/>
            <a:ext cx="4983480" cy="164592"/>
          </a:xfrm>
          <a:prstGeom prst="rect">
            <a:avLst/>
          </a:prstGeom>
          <a:noFill/>
          <a:ln/>
        </p:spPr>
        <p:txBody>
          <a:bodyPr wrap="square" lIns="0" tIns="0" rIns="0" bIns="0" rtlCol="0" anchor="ctr"/>
          <a:lstStyle/>
          <a:p>
            <a:pPr indent="0" marL="0">
              <a:buNone/>
            </a:pPr>
            <a:r>
              <a:rPr lang="en-US" sz="850" dirty="0">
                <a:solidFill>
                  <a:srgbClr val="7E8795"/>
                </a:solidFill>
                <a:latin typeface="Aptos" pitchFamily="34" charset="0"/>
                <a:ea typeface="Aptos" pitchFamily="34" charset="-122"/>
                <a:cs typeface="Aptos" pitchFamily="34" charset="-120"/>
              </a:rPr>
              <a:t>Source: Week 4 Assignment screenshots — successful registration and database before/after evidence.</a:t>
            </a:r>
            <a:endParaRPr lang="en-US" sz="85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Schedule Management: Add and Drop Courses</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portal can display the current schedule, add more classes, and remove a selected enrollment.</a:t>
            </a:r>
            <a:endParaRPr lang="en-US" sz="1250" dirty="0"/>
          </a:p>
        </p:txBody>
      </p:sp>
      <p:sp>
        <p:nvSpPr>
          <p:cNvPr id="4" name="Shape 2"/>
          <p:cNvSpPr/>
          <p:nvPr/>
        </p:nvSpPr>
        <p:spPr>
          <a:xfrm>
            <a:off x="530352" y="1280160"/>
            <a:ext cx="5010912" cy="2267712"/>
          </a:xfrm>
          <a:prstGeom prst="roundRect">
            <a:avLst>
              <a:gd name="adj" fmla="val 3226"/>
            </a:avLst>
          </a:prstGeom>
          <a:solidFill>
            <a:srgbClr val="20252E"/>
          </a:solidFill>
          <a:ln w="12700">
            <a:solidFill>
              <a:srgbClr val="343B46"/>
            </a:solidFill>
            <a:prstDash val="solid"/>
          </a:ln>
        </p:spPr>
      </p:sp>
      <p:pic>
        <p:nvPicPr>
          <p:cNvPr id="5" name="Image 0" descr="/mnt/data/rebuild_assets/Week_4_assignment_screenshots/image7.png">    </p:cNvPr>
          <p:cNvPicPr>
            <a:picLocks noChangeAspect="1"/>
          </p:cNvPicPr>
          <p:nvPr/>
        </p:nvPicPr>
        <p:blipFill>
          <a:blip r:embed="rId1"/>
          <a:stretch>
            <a:fillRect/>
          </a:stretch>
        </p:blipFill>
        <p:spPr>
          <a:xfrm>
            <a:off x="576072" y="1325880"/>
            <a:ext cx="4919472" cy="2176272"/>
          </a:xfrm>
          <a:prstGeom prst="rect">
            <a:avLst/>
          </a:prstGeom>
        </p:spPr>
      </p:pic>
      <p:sp>
        <p:nvSpPr>
          <p:cNvPr id="6" name="Shape 3"/>
          <p:cNvSpPr/>
          <p:nvPr/>
        </p:nvSpPr>
        <p:spPr>
          <a:xfrm>
            <a:off x="640080" y="3163824"/>
            <a:ext cx="2743200"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3209544"/>
            <a:ext cx="4599432" cy="164592"/>
          </a:xfrm>
          <a:prstGeom prst="rect">
            <a:avLst/>
          </a:prstGeom>
          <a:noFill/>
          <a:ln/>
        </p:spPr>
        <p:txBody>
          <a:bodyPr wrap="square" lIns="0" tIns="0" rIns="0" bIns="0" rtlCol="0" anchor="ctr"/>
          <a:lstStyle/>
          <a:p>
            <a:pPr indent="0" marL="0">
              <a:buNone/>
            </a:pPr>
            <a:r>
              <a:rPr lang="en-US" sz="950" b="1" dirty="0">
                <a:solidFill>
                  <a:srgbClr val="F7F9FC"/>
                </a:solidFill>
              </a:rPr>
              <a:t>Schedule before adding more courses</a:t>
            </a:r>
            <a:endParaRPr lang="en-US" sz="950" dirty="0"/>
          </a:p>
        </p:txBody>
      </p:sp>
      <p:sp>
        <p:nvSpPr>
          <p:cNvPr id="8" name="Shape 5"/>
          <p:cNvSpPr/>
          <p:nvPr/>
        </p:nvSpPr>
        <p:spPr>
          <a:xfrm>
            <a:off x="530352" y="3749040"/>
            <a:ext cx="5010912" cy="2148840"/>
          </a:xfrm>
          <a:prstGeom prst="roundRect">
            <a:avLst>
              <a:gd name="adj" fmla="val 3404"/>
            </a:avLst>
          </a:prstGeom>
          <a:solidFill>
            <a:srgbClr val="20252E"/>
          </a:solidFill>
          <a:ln w="12700">
            <a:solidFill>
              <a:srgbClr val="343B46"/>
            </a:solidFill>
            <a:prstDash val="solid"/>
          </a:ln>
        </p:spPr>
      </p:sp>
      <p:pic>
        <p:nvPicPr>
          <p:cNvPr id="9" name="Image 1" descr="/mnt/data/rebuild_assets/Week_4_assignment_screenshots/image8.png">    </p:cNvPr>
          <p:cNvPicPr>
            <a:picLocks noChangeAspect="1"/>
          </p:cNvPicPr>
          <p:nvPr/>
        </p:nvPicPr>
        <p:blipFill>
          <a:blip r:embed="rId2"/>
          <a:stretch>
            <a:fillRect/>
          </a:stretch>
        </p:blipFill>
        <p:spPr>
          <a:xfrm>
            <a:off x="576072" y="3794760"/>
            <a:ext cx="4919472" cy="2057400"/>
          </a:xfrm>
          <a:prstGeom prst="rect">
            <a:avLst/>
          </a:prstGeom>
        </p:spPr>
      </p:pic>
      <p:sp>
        <p:nvSpPr>
          <p:cNvPr id="10" name="Shape 6"/>
          <p:cNvSpPr/>
          <p:nvPr/>
        </p:nvSpPr>
        <p:spPr>
          <a:xfrm>
            <a:off x="640080" y="5513832"/>
            <a:ext cx="2359152"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731520" y="5559552"/>
            <a:ext cx="4599432" cy="164592"/>
          </a:xfrm>
          <a:prstGeom prst="rect">
            <a:avLst/>
          </a:prstGeom>
          <a:noFill/>
          <a:ln/>
        </p:spPr>
        <p:txBody>
          <a:bodyPr wrap="square" lIns="0" tIns="0" rIns="0" bIns="0" rtlCol="0" anchor="ctr"/>
          <a:lstStyle/>
          <a:p>
            <a:pPr indent="0" marL="0">
              <a:buNone/>
            </a:pPr>
            <a:r>
              <a:rPr lang="en-US" sz="950" b="1" dirty="0">
                <a:solidFill>
                  <a:srgbClr val="F7F9FC"/>
                </a:solidFill>
              </a:rPr>
              <a:t>Schedule after adding courses</a:t>
            </a:r>
            <a:endParaRPr lang="en-US" sz="950" dirty="0"/>
          </a:p>
        </p:txBody>
      </p:sp>
      <p:sp>
        <p:nvSpPr>
          <p:cNvPr id="12" name="Shape 8"/>
          <p:cNvSpPr/>
          <p:nvPr/>
        </p:nvSpPr>
        <p:spPr>
          <a:xfrm>
            <a:off x="5742432" y="1280160"/>
            <a:ext cx="5943600" cy="4617720"/>
          </a:xfrm>
          <a:prstGeom prst="roundRect">
            <a:avLst>
              <a:gd name="adj" fmla="val 1584"/>
            </a:avLst>
          </a:prstGeom>
          <a:solidFill>
            <a:srgbClr val="F5F5F5"/>
          </a:solidFill>
          <a:ln w="12700">
            <a:solidFill>
              <a:srgbClr val="343B46"/>
            </a:solidFill>
            <a:prstDash val="solid"/>
          </a:ln>
        </p:spPr>
      </p:sp>
      <p:pic>
        <p:nvPicPr>
          <p:cNvPr id="13" name="Image 2" descr="/mnt/data/rebuild_assets/Week_4_-_Assignment(20260907-215607)/image8.png">    </p:cNvPr>
          <p:cNvPicPr>
            <a:picLocks noChangeAspect="1"/>
          </p:cNvPicPr>
          <p:nvPr/>
        </p:nvPicPr>
        <p:blipFill>
          <a:blip r:embed="rId3"/>
          <a:stretch>
            <a:fillRect/>
          </a:stretch>
        </p:blipFill>
        <p:spPr>
          <a:xfrm>
            <a:off x="5788152" y="1325880"/>
            <a:ext cx="5852160" cy="4526280"/>
          </a:xfrm>
          <a:prstGeom prst="rect">
            <a:avLst/>
          </a:prstGeom>
        </p:spPr>
      </p:pic>
      <p:sp>
        <p:nvSpPr>
          <p:cNvPr id="14" name="Shape 9"/>
          <p:cNvSpPr/>
          <p:nvPr/>
        </p:nvSpPr>
        <p:spPr>
          <a:xfrm>
            <a:off x="5852160" y="5513832"/>
            <a:ext cx="3255264" cy="256032"/>
          </a:xfrm>
          <a:prstGeom prst="roundRect">
            <a:avLst/>
          </a:prstGeom>
          <a:solidFill>
            <a:srgbClr val="000000">
              <a:alpha val="82000"/>
            </a:srgbClr>
          </a:solidFill>
          <a:ln w="12700">
            <a:solidFill>
              <a:srgbClr val="000000">
                <a:alpha val="0"/>
              </a:srgbClr>
            </a:solidFill>
            <a:prstDash val="solid"/>
          </a:ln>
        </p:spPr>
      </p:sp>
      <p:sp>
        <p:nvSpPr>
          <p:cNvPr id="15" name="Text 10"/>
          <p:cNvSpPr/>
          <p:nvPr/>
        </p:nvSpPr>
        <p:spPr>
          <a:xfrm>
            <a:off x="5943600" y="5559552"/>
            <a:ext cx="5532120" cy="164592"/>
          </a:xfrm>
          <a:prstGeom prst="rect">
            <a:avLst/>
          </a:prstGeom>
          <a:noFill/>
          <a:ln/>
        </p:spPr>
        <p:txBody>
          <a:bodyPr wrap="square" lIns="0" tIns="0" rIns="0" bIns="0" rtlCol="0" anchor="ctr"/>
          <a:lstStyle/>
          <a:p>
            <a:pPr indent="0" marL="0">
              <a:buNone/>
            </a:pPr>
            <a:r>
              <a:rPr lang="en-US" sz="950" b="1" dirty="0">
                <a:solidFill>
                  <a:srgbClr val="F7F9FC"/>
                </a:solidFill>
              </a:rPr>
              <a:t>drop_course.php — prepared DELETE statement</a:t>
            </a:r>
            <a:endParaRPr lang="en-US" sz="950" dirty="0"/>
          </a:p>
        </p:txBody>
      </p:sp>
      <p:sp>
        <p:nvSpPr>
          <p:cNvPr id="16" name="Text 11"/>
          <p:cNvSpPr/>
          <p:nvPr/>
        </p:nvSpPr>
        <p:spPr>
          <a:xfrm>
            <a:off x="713232" y="6035040"/>
            <a:ext cx="4709160" cy="219456"/>
          </a:xfrm>
          <a:prstGeom prst="rect">
            <a:avLst/>
          </a:prstGeom>
          <a:noFill/>
          <a:ln/>
        </p:spPr>
        <p:txBody>
          <a:bodyPr wrap="square" lIns="0" tIns="0" rIns="0" bIns="0" rtlCol="0" anchor="ctr"/>
          <a:lstStyle/>
          <a:p>
            <a:pPr algn="ctr" indent="0" marL="0">
              <a:buNone/>
            </a:pPr>
            <a:r>
              <a:rPr lang="en-US" sz="1180" dirty="0">
                <a:solidFill>
                  <a:srgbClr val="E8ECF2"/>
                </a:solidFill>
              </a:rPr>
              <a:t>INNER JOIN displays course details from the enrollment relationship.</a:t>
            </a:r>
            <a:endParaRPr lang="en-US" sz="1180" dirty="0"/>
          </a:p>
        </p:txBody>
      </p:sp>
      <p:sp>
        <p:nvSpPr>
          <p:cNvPr id="17" name="Text 12"/>
          <p:cNvSpPr/>
          <p:nvPr/>
        </p:nvSpPr>
        <p:spPr>
          <a:xfrm>
            <a:off x="5925312" y="6035040"/>
            <a:ext cx="5532120" cy="219456"/>
          </a:xfrm>
          <a:prstGeom prst="rect">
            <a:avLst/>
          </a:prstGeom>
          <a:noFill/>
          <a:ln/>
        </p:spPr>
        <p:txBody>
          <a:bodyPr wrap="square" lIns="0" tIns="0" rIns="0" bIns="0" rtlCol="0" anchor="ctr"/>
          <a:lstStyle/>
          <a:p>
            <a:pPr algn="ctr" indent="0" marL="0">
              <a:buNone/>
            </a:pPr>
            <a:r>
              <a:rPr lang="en-US" sz="1180" dirty="0">
                <a:solidFill>
                  <a:srgbClr val="E8ECF2"/>
                </a:solidFill>
              </a:rPr>
              <a:t>DELETE is limited by both enrollment ID and the logged-in user ID.</a:t>
            </a:r>
            <a:endParaRPr lang="en-US" sz="118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PHP Integration and Final Project Outcome</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The completed prototype connects authentication, reusable PHP logic, relational data, and a working student workflow.</a:t>
            </a:r>
            <a:endParaRPr lang="en-US" sz="1250" dirty="0"/>
          </a:p>
        </p:txBody>
      </p:sp>
      <p:sp>
        <p:nvSpPr>
          <p:cNvPr id="4" name="Shape 2"/>
          <p:cNvSpPr/>
          <p:nvPr/>
        </p:nvSpPr>
        <p:spPr>
          <a:xfrm>
            <a:off x="530352" y="1316736"/>
            <a:ext cx="5193792" cy="4069080"/>
          </a:xfrm>
          <a:prstGeom prst="roundRect">
            <a:avLst>
              <a:gd name="adj" fmla="val 1798"/>
            </a:avLst>
          </a:prstGeom>
          <a:solidFill>
            <a:srgbClr val="20252E"/>
          </a:solidFill>
          <a:ln w="12700">
            <a:solidFill>
              <a:srgbClr val="343B46"/>
            </a:solidFill>
            <a:prstDash val="solid"/>
          </a:ln>
        </p:spPr>
      </p:sp>
      <p:pic>
        <p:nvPicPr>
          <p:cNvPr id="5" name="Image 0" descr="/mnt/data/rebuild_assets/Week_4_assignment_screenshots/image5.png">    </p:cNvPr>
          <p:cNvPicPr>
            <a:picLocks noChangeAspect="1"/>
          </p:cNvPicPr>
          <p:nvPr/>
        </p:nvPicPr>
        <p:blipFill>
          <a:blip r:embed="rId1"/>
          <a:stretch>
            <a:fillRect/>
          </a:stretch>
        </p:blipFill>
        <p:spPr>
          <a:xfrm>
            <a:off x="585216" y="1371600"/>
            <a:ext cx="5084064" cy="3959352"/>
          </a:xfrm>
          <a:prstGeom prst="rect">
            <a:avLst/>
          </a:prstGeom>
        </p:spPr>
      </p:pic>
      <p:sp>
        <p:nvSpPr>
          <p:cNvPr id="6" name="Shape 3"/>
          <p:cNvSpPr/>
          <p:nvPr/>
        </p:nvSpPr>
        <p:spPr>
          <a:xfrm>
            <a:off x="640080" y="5001768"/>
            <a:ext cx="2487168" cy="256032"/>
          </a:xfrm>
          <a:prstGeom prst="roundRect">
            <a:avLst/>
          </a:prstGeom>
          <a:solidFill>
            <a:srgbClr val="000000">
              <a:alpha val="82000"/>
            </a:srgbClr>
          </a:solidFill>
          <a:ln w="12700">
            <a:solidFill>
              <a:srgbClr val="000000">
                <a:alpha val="0"/>
              </a:srgbClr>
            </a:solidFill>
            <a:prstDash val="solid"/>
          </a:ln>
        </p:spPr>
      </p:sp>
      <p:sp>
        <p:nvSpPr>
          <p:cNvPr id="7" name="Text 4"/>
          <p:cNvSpPr/>
          <p:nvPr/>
        </p:nvSpPr>
        <p:spPr>
          <a:xfrm>
            <a:off x="731520" y="5047488"/>
            <a:ext cx="4782312" cy="164592"/>
          </a:xfrm>
          <a:prstGeom prst="rect">
            <a:avLst/>
          </a:prstGeom>
          <a:noFill/>
          <a:ln/>
        </p:spPr>
        <p:txBody>
          <a:bodyPr wrap="square" lIns="0" tIns="0" rIns="0" bIns="0" rtlCol="0" anchor="ctr"/>
          <a:lstStyle/>
          <a:p>
            <a:pPr indent="0" marL="0">
              <a:buNone/>
            </a:pPr>
            <a:r>
              <a:rPr lang="en-US" sz="950" b="1" dirty="0">
                <a:solidFill>
                  <a:srgbClr val="F7F9FC"/>
                </a:solidFill>
              </a:rPr>
              <a:t>Authenticated student dashboard</a:t>
            </a:r>
            <a:endParaRPr lang="en-US" sz="950" dirty="0"/>
          </a:p>
        </p:txBody>
      </p:sp>
      <p:sp>
        <p:nvSpPr>
          <p:cNvPr id="8" name="Shape 5"/>
          <p:cNvSpPr/>
          <p:nvPr/>
        </p:nvSpPr>
        <p:spPr>
          <a:xfrm>
            <a:off x="5925312" y="1316736"/>
            <a:ext cx="5760720" cy="4069080"/>
          </a:xfrm>
          <a:prstGeom prst="roundRect">
            <a:avLst>
              <a:gd name="adj" fmla="val 1798"/>
            </a:avLst>
          </a:prstGeom>
          <a:solidFill>
            <a:srgbClr val="20252E"/>
          </a:solidFill>
          <a:ln w="12700">
            <a:solidFill>
              <a:srgbClr val="343B46"/>
            </a:solidFill>
            <a:prstDash val="solid"/>
          </a:ln>
        </p:spPr>
      </p:sp>
      <p:pic>
        <p:nvPicPr>
          <p:cNvPr id="9" name="Image 1" descr="/mnt/data/rebuild_assets/Week_4_assignment_screenshots/image6.png">    </p:cNvPr>
          <p:cNvPicPr>
            <a:picLocks noChangeAspect="1"/>
          </p:cNvPicPr>
          <p:nvPr/>
        </p:nvPicPr>
        <p:blipFill>
          <a:blip r:embed="rId2"/>
          <a:stretch>
            <a:fillRect/>
          </a:stretch>
        </p:blipFill>
        <p:spPr>
          <a:xfrm>
            <a:off x="5980176" y="1371600"/>
            <a:ext cx="5650992" cy="3959352"/>
          </a:xfrm>
          <a:prstGeom prst="rect">
            <a:avLst/>
          </a:prstGeom>
        </p:spPr>
      </p:pic>
      <p:sp>
        <p:nvSpPr>
          <p:cNvPr id="10" name="Shape 6"/>
          <p:cNvSpPr/>
          <p:nvPr/>
        </p:nvSpPr>
        <p:spPr>
          <a:xfrm>
            <a:off x="6035040" y="5001768"/>
            <a:ext cx="3191256" cy="256032"/>
          </a:xfrm>
          <a:prstGeom prst="roundRect">
            <a:avLst/>
          </a:prstGeom>
          <a:solidFill>
            <a:srgbClr val="000000">
              <a:alpha val="82000"/>
            </a:srgbClr>
          </a:solidFill>
          <a:ln w="12700">
            <a:solidFill>
              <a:srgbClr val="000000">
                <a:alpha val="0"/>
              </a:srgbClr>
            </a:solidFill>
            <a:prstDash val="solid"/>
          </a:ln>
        </p:spPr>
      </p:sp>
      <p:sp>
        <p:nvSpPr>
          <p:cNvPr id="11" name="Text 7"/>
          <p:cNvSpPr/>
          <p:nvPr/>
        </p:nvSpPr>
        <p:spPr>
          <a:xfrm>
            <a:off x="6126480" y="5047488"/>
            <a:ext cx="5349240" cy="164592"/>
          </a:xfrm>
          <a:prstGeom prst="rect">
            <a:avLst/>
          </a:prstGeom>
          <a:noFill/>
          <a:ln/>
        </p:spPr>
        <p:txBody>
          <a:bodyPr wrap="square" lIns="0" tIns="0" rIns="0" bIns="0" rtlCol="0" anchor="ctr"/>
          <a:lstStyle/>
          <a:p>
            <a:pPr indent="0" marL="0">
              <a:buNone/>
            </a:pPr>
            <a:r>
              <a:rPr lang="en-US" sz="950" b="1" dirty="0">
                <a:solidFill>
                  <a:srgbClr val="F7F9FC"/>
                </a:solidFill>
              </a:rPr>
              <a:t>Available classes / registration interface</a:t>
            </a:r>
            <a:endParaRPr lang="en-US" sz="950" dirty="0"/>
          </a:p>
        </p:txBody>
      </p:sp>
      <p:sp>
        <p:nvSpPr>
          <p:cNvPr id="12" name="Shape 8"/>
          <p:cNvSpPr/>
          <p:nvPr/>
        </p:nvSpPr>
        <p:spPr>
          <a:xfrm>
            <a:off x="658368" y="5559552"/>
            <a:ext cx="10972800" cy="658368"/>
          </a:xfrm>
          <a:prstGeom prst="roundRect">
            <a:avLst>
              <a:gd name="adj" fmla="val 11111"/>
            </a:avLst>
          </a:prstGeom>
          <a:solidFill>
            <a:srgbClr val="171B22"/>
          </a:solidFill>
          <a:ln w="12700">
            <a:solidFill>
              <a:srgbClr val="343B46"/>
            </a:solidFill>
            <a:prstDash val="solid"/>
          </a:ln>
        </p:spPr>
      </p:sp>
      <p:sp>
        <p:nvSpPr>
          <p:cNvPr id="13" name="Text 9"/>
          <p:cNvSpPr/>
          <p:nvPr/>
        </p:nvSpPr>
        <p:spPr>
          <a:xfrm>
            <a:off x="841248" y="5696712"/>
            <a:ext cx="10625328" cy="201168"/>
          </a:xfrm>
          <a:prstGeom prst="rect">
            <a:avLst/>
          </a:prstGeom>
          <a:noFill/>
          <a:ln/>
        </p:spPr>
        <p:txBody>
          <a:bodyPr wrap="square" lIns="0" tIns="0" rIns="0" bIns="0" rtlCol="0" anchor="ctr"/>
          <a:lstStyle/>
          <a:p>
            <a:pPr algn="ctr" indent="0" marL="0">
              <a:buNone/>
            </a:pPr>
            <a:r>
              <a:rPr lang="en-US" sz="1270" b="1" dirty="0">
                <a:solidFill>
                  <a:srgbClr val="F7F9FC"/>
                </a:solidFill>
              </a:rPr>
              <a:t>Implemented: account creation • login/session handling • course listing • registration • schedule view • add/drop courses • MySQL verification</a:t>
            </a:r>
            <a:endParaRPr lang="en-US" sz="1270" dirty="0"/>
          </a:p>
        </p:txBody>
      </p:sp>
      <p:sp>
        <p:nvSpPr>
          <p:cNvPr id="14" name="Text 10"/>
          <p:cNvSpPr/>
          <p:nvPr/>
        </p:nvSpPr>
        <p:spPr>
          <a:xfrm>
            <a:off x="1965960" y="5934456"/>
            <a:ext cx="8321040" cy="164592"/>
          </a:xfrm>
          <a:prstGeom prst="rect">
            <a:avLst/>
          </a:prstGeom>
          <a:noFill/>
          <a:ln/>
        </p:spPr>
        <p:txBody>
          <a:bodyPr wrap="square" lIns="0" tIns="0" rIns="0" bIns="0" rtlCol="0" anchor="ctr"/>
          <a:lstStyle/>
          <a:p>
            <a:pPr algn="ctr" indent="0" marL="0">
              <a:buNone/>
            </a:pPr>
            <a:r>
              <a:rPr lang="en-US" sz="1070" dirty="0">
                <a:solidFill>
                  <a:srgbClr val="AAB2BF"/>
                </a:solidFill>
              </a:rPr>
              <a:t>SRS/UML future extension: full waitlist and seat-notification automation.</a:t>
            </a:r>
            <a:endParaRPr lang="en-US" sz="1070" dirty="0"/>
          </a:p>
        </p:txBody>
      </p:sp>
      <p:sp>
        <p:nvSpPr>
          <p:cNvPr id="15" name="Text 11"/>
          <p:cNvSpPr/>
          <p:nvPr/>
        </p:nvSpPr>
        <p:spPr>
          <a:xfrm>
            <a:off x="7132320" y="6473952"/>
            <a:ext cx="3840480" cy="164592"/>
          </a:xfrm>
          <a:prstGeom prst="rect">
            <a:avLst/>
          </a:prstGeom>
          <a:noFill/>
          <a:ln/>
        </p:spPr>
        <p:txBody>
          <a:bodyPr wrap="square" lIns="0" tIns="0" rIns="0" bIns="0" rtlCol="0" anchor="ctr"/>
          <a:lstStyle/>
          <a:p>
            <a:pPr algn="r" indent="0" marL="0">
              <a:buNone/>
            </a:pPr>
            <a:r>
              <a:rPr lang="en-US" sz="870" i="1" dirty="0">
                <a:solidFill>
                  <a:srgbClr val="7F8998"/>
                </a:solidFill>
                <a:latin typeface="Aptos" pitchFamily="34" charset="0"/>
                <a:ea typeface="Aptos" pitchFamily="34" charset="-122"/>
                <a:cs typeface="Aptos" pitchFamily="34" charset="-120"/>
              </a:rPr>
              <a:t>(Tsui et al., 2018)</a:t>
            </a:r>
            <a:endParaRPr lang="en-US" sz="87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292608"/>
            <a:ext cx="11064240" cy="475488"/>
          </a:xfrm>
          <a:prstGeom prst="rect">
            <a:avLst/>
          </a:prstGeom>
          <a:noFill/>
          <a:ln/>
        </p:spPr>
        <p:txBody>
          <a:bodyPr wrap="square" lIns="0" tIns="0" rIns="0" bIns="0" rtlCol="0" anchor="ctr"/>
          <a:lstStyle/>
          <a:p>
            <a:pPr indent="0" marL="0">
              <a:buNone/>
            </a:pPr>
            <a:r>
              <a:rPr lang="en-US" sz="2700" b="1" dirty="0">
                <a:solidFill>
                  <a:srgbClr val="F7F9FC"/>
                </a:solidFill>
                <a:latin typeface="Aptos Display" pitchFamily="34" charset="0"/>
                <a:ea typeface="Aptos Display" pitchFamily="34" charset="-122"/>
                <a:cs typeface="Aptos Display" pitchFamily="34" charset="-120"/>
              </a:rPr>
              <a:t>References</a:t>
            </a:r>
            <a:endParaRPr lang="en-US" sz="2700" dirty="0"/>
          </a:p>
        </p:txBody>
      </p:sp>
      <p:sp>
        <p:nvSpPr>
          <p:cNvPr id="3" name="Text 1"/>
          <p:cNvSpPr/>
          <p:nvPr/>
        </p:nvSpPr>
        <p:spPr>
          <a:xfrm>
            <a:off x="548640" y="804672"/>
            <a:ext cx="10881360" cy="292608"/>
          </a:xfrm>
          <a:prstGeom prst="rect">
            <a:avLst/>
          </a:prstGeom>
          <a:noFill/>
          <a:ln/>
        </p:spPr>
        <p:txBody>
          <a:bodyPr wrap="square" lIns="0" tIns="0" rIns="0" bIns="0" rtlCol="0" anchor="ctr"/>
          <a:lstStyle/>
          <a:p>
            <a:pPr indent="0" marL="0">
              <a:buNone/>
            </a:pPr>
            <a:r>
              <a:rPr lang="en-US" sz="1250" dirty="0">
                <a:solidFill>
                  <a:srgbClr val="AAB2BF"/>
                </a:solidFill>
              </a:rPr>
              <a:t>Scholarly sources and course text used to support the project design and implementation.</a:t>
            </a:r>
            <a:endParaRPr lang="en-US" sz="1250" dirty="0"/>
          </a:p>
        </p:txBody>
      </p:sp>
      <p:sp>
        <p:nvSpPr>
          <p:cNvPr id="4" name="Shape 2"/>
          <p:cNvSpPr/>
          <p:nvPr/>
        </p:nvSpPr>
        <p:spPr>
          <a:xfrm>
            <a:off x="658368" y="1234440"/>
            <a:ext cx="10881360" cy="841248"/>
          </a:xfrm>
          <a:prstGeom prst="roundRect">
            <a:avLst>
              <a:gd name="adj" fmla="val 8696"/>
            </a:avLst>
          </a:prstGeom>
          <a:solidFill>
            <a:srgbClr val="181C22"/>
          </a:solidFill>
          <a:ln w="12700">
            <a:solidFill>
              <a:srgbClr val="2F3640"/>
            </a:solidFill>
            <a:prstDash val="solid"/>
          </a:ln>
        </p:spPr>
      </p:sp>
      <p:sp>
        <p:nvSpPr>
          <p:cNvPr id="5" name="Text 3"/>
          <p:cNvSpPr/>
          <p:nvPr/>
        </p:nvSpPr>
        <p:spPr>
          <a:xfrm>
            <a:off x="868680" y="1399032"/>
            <a:ext cx="10469880" cy="530352"/>
          </a:xfrm>
          <a:prstGeom prst="rect">
            <a:avLst/>
          </a:prstGeom>
          <a:noFill/>
          <a:ln/>
        </p:spPr>
        <p:txBody>
          <a:bodyPr wrap="square" lIns="254" tIns="254" rIns="254" bIns="254" rtlCol="0" anchor="ctr"/>
          <a:lstStyle/>
          <a:p>
            <a:pPr indent="0" marL="0">
              <a:buNone/>
            </a:pPr>
            <a:r>
              <a:rPr lang="en-US" sz="1350" dirty="0">
                <a:solidFill>
                  <a:srgbClr val="E8ECF2"/>
                </a:solidFill>
              </a:rPr>
              <a:t>Ahmad, T., Iqbal, J., Ashraf, A., Truscan, D., &amp; Porres, I. (2019). Model-based testing using UML activity diagrams: A systematic mapping study. Computer Science Review, 33, 98–112. https://doi.org/10.1016/j.cosrev.2019.07.001</a:t>
            </a:r>
            <a:endParaRPr lang="en-US" sz="1350" dirty="0"/>
          </a:p>
        </p:txBody>
      </p:sp>
      <p:sp>
        <p:nvSpPr>
          <p:cNvPr id="6" name="Shape 4"/>
          <p:cNvSpPr/>
          <p:nvPr/>
        </p:nvSpPr>
        <p:spPr>
          <a:xfrm>
            <a:off x="658368" y="2286000"/>
            <a:ext cx="10881360" cy="841248"/>
          </a:xfrm>
          <a:prstGeom prst="roundRect">
            <a:avLst>
              <a:gd name="adj" fmla="val 8696"/>
            </a:avLst>
          </a:prstGeom>
          <a:solidFill>
            <a:srgbClr val="15191F"/>
          </a:solidFill>
          <a:ln w="12700">
            <a:solidFill>
              <a:srgbClr val="2F3640"/>
            </a:solidFill>
            <a:prstDash val="solid"/>
          </a:ln>
        </p:spPr>
      </p:sp>
      <p:sp>
        <p:nvSpPr>
          <p:cNvPr id="7" name="Text 5"/>
          <p:cNvSpPr/>
          <p:nvPr/>
        </p:nvSpPr>
        <p:spPr>
          <a:xfrm>
            <a:off x="868680" y="2450592"/>
            <a:ext cx="10469880" cy="530352"/>
          </a:xfrm>
          <a:prstGeom prst="rect">
            <a:avLst/>
          </a:prstGeom>
          <a:noFill/>
          <a:ln/>
        </p:spPr>
        <p:txBody>
          <a:bodyPr wrap="square" lIns="254" tIns="254" rIns="254" bIns="254" rtlCol="0" anchor="ctr"/>
          <a:lstStyle/>
          <a:p>
            <a:pPr indent="0" marL="0">
              <a:buNone/>
            </a:pPr>
            <a:r>
              <a:rPr lang="en-US" sz="1350" dirty="0">
                <a:solidFill>
                  <a:srgbClr val="E8ECF2"/>
                </a:solidFill>
              </a:rPr>
              <a:t>Codd, E. F. (1970). A relational model of data for large shared data banks. Communications of the ACM, 13(6), 377–387. https://doi.org/10.1145/362384.362685</a:t>
            </a:r>
            <a:endParaRPr lang="en-US" sz="1350" dirty="0"/>
          </a:p>
        </p:txBody>
      </p:sp>
      <p:sp>
        <p:nvSpPr>
          <p:cNvPr id="8" name="Shape 6"/>
          <p:cNvSpPr/>
          <p:nvPr/>
        </p:nvSpPr>
        <p:spPr>
          <a:xfrm>
            <a:off x="658368" y="3337560"/>
            <a:ext cx="10881360" cy="841248"/>
          </a:xfrm>
          <a:prstGeom prst="roundRect">
            <a:avLst>
              <a:gd name="adj" fmla="val 8696"/>
            </a:avLst>
          </a:prstGeom>
          <a:solidFill>
            <a:srgbClr val="181C22"/>
          </a:solidFill>
          <a:ln w="12700">
            <a:solidFill>
              <a:srgbClr val="2F3640"/>
            </a:solidFill>
            <a:prstDash val="solid"/>
          </a:ln>
        </p:spPr>
      </p:sp>
      <p:sp>
        <p:nvSpPr>
          <p:cNvPr id="9" name="Text 7"/>
          <p:cNvSpPr/>
          <p:nvPr/>
        </p:nvSpPr>
        <p:spPr>
          <a:xfrm>
            <a:off x="868680" y="3502152"/>
            <a:ext cx="10469880" cy="530352"/>
          </a:xfrm>
          <a:prstGeom prst="rect">
            <a:avLst/>
          </a:prstGeom>
          <a:noFill/>
          <a:ln/>
        </p:spPr>
        <p:txBody>
          <a:bodyPr wrap="square" lIns="254" tIns="254" rIns="254" bIns="254" rtlCol="0" anchor="ctr"/>
          <a:lstStyle/>
          <a:p>
            <a:pPr indent="0" marL="0">
              <a:buNone/>
            </a:pPr>
            <a:r>
              <a:rPr lang="en-US" sz="1350" dirty="0">
                <a:solidFill>
                  <a:srgbClr val="E8ECF2"/>
                </a:solidFill>
              </a:rPr>
              <a:t>Halfond, W. G. J., Viegas, J., &amp; Orso, A. (2006). A classification of SQL-injection attacks and countermeasures. Proceedings of the IEEE International Symposium on Secure Software Engineering.</a:t>
            </a:r>
            <a:endParaRPr lang="en-US" sz="1350" dirty="0"/>
          </a:p>
        </p:txBody>
      </p:sp>
      <p:sp>
        <p:nvSpPr>
          <p:cNvPr id="10" name="Shape 8"/>
          <p:cNvSpPr/>
          <p:nvPr/>
        </p:nvSpPr>
        <p:spPr>
          <a:xfrm>
            <a:off x="658368" y="4389120"/>
            <a:ext cx="10881360" cy="841248"/>
          </a:xfrm>
          <a:prstGeom prst="roundRect">
            <a:avLst>
              <a:gd name="adj" fmla="val 8696"/>
            </a:avLst>
          </a:prstGeom>
          <a:solidFill>
            <a:srgbClr val="15191F"/>
          </a:solidFill>
          <a:ln w="12700">
            <a:solidFill>
              <a:srgbClr val="2F3640"/>
            </a:solidFill>
            <a:prstDash val="solid"/>
          </a:ln>
        </p:spPr>
      </p:sp>
      <p:sp>
        <p:nvSpPr>
          <p:cNvPr id="11" name="Text 9"/>
          <p:cNvSpPr/>
          <p:nvPr/>
        </p:nvSpPr>
        <p:spPr>
          <a:xfrm>
            <a:off x="868680" y="4553712"/>
            <a:ext cx="10469880" cy="530352"/>
          </a:xfrm>
          <a:prstGeom prst="rect">
            <a:avLst/>
          </a:prstGeom>
          <a:noFill/>
          <a:ln/>
        </p:spPr>
        <p:txBody>
          <a:bodyPr wrap="square" lIns="254" tIns="254" rIns="254" bIns="254" rtlCol="0" anchor="ctr"/>
          <a:lstStyle/>
          <a:p>
            <a:pPr indent="0" marL="0">
              <a:buNone/>
            </a:pPr>
            <a:r>
              <a:rPr lang="en-US" sz="1350" dirty="0">
                <a:solidFill>
                  <a:srgbClr val="E8ECF2"/>
                </a:solidFill>
              </a:rPr>
              <a:t>Tsui, F. F., Karam, O., &amp; Bernal, B. (2018). Essentials of software engineering (4th ed.). Jones &amp; Bartlett Learning.</a:t>
            </a:r>
            <a:endParaRPr lang="en-US" sz="1350" dirty="0"/>
          </a:p>
        </p:txBody>
      </p:sp>
      <p:sp>
        <p:nvSpPr>
          <p:cNvPr id="12" name="Shape 10"/>
          <p:cNvSpPr/>
          <p:nvPr/>
        </p:nvSpPr>
        <p:spPr>
          <a:xfrm>
            <a:off x="731520" y="5577840"/>
            <a:ext cx="3429000" cy="640080"/>
          </a:xfrm>
          <a:prstGeom prst="roundRect">
            <a:avLst>
              <a:gd name="adj" fmla="val 11429"/>
            </a:avLst>
          </a:prstGeom>
          <a:solidFill>
            <a:srgbClr val="20252E"/>
          </a:solidFill>
          <a:ln w="12700">
            <a:solidFill>
              <a:srgbClr val="343B46"/>
            </a:solidFill>
            <a:prstDash val="solid"/>
          </a:ln>
        </p:spPr>
      </p:sp>
      <p:pic>
        <p:nvPicPr>
          <p:cNvPr id="13" name="Image 0" descr="/mnt/data/rebuild_assets/Week_3_-_Assignment(20260907-215602)/image2.png">    </p:cNvPr>
          <p:cNvPicPr>
            <a:picLocks noChangeAspect="1"/>
          </p:cNvPicPr>
          <p:nvPr/>
        </p:nvPicPr>
        <p:blipFill>
          <a:blip r:embed="rId1"/>
          <a:stretch>
            <a:fillRect/>
          </a:stretch>
        </p:blipFill>
        <p:spPr>
          <a:xfrm>
            <a:off x="749808" y="5596128"/>
            <a:ext cx="3392424" cy="603504"/>
          </a:xfrm>
          <a:prstGeom prst="rect">
            <a:avLst/>
          </a:prstGeom>
        </p:spPr>
      </p:pic>
      <p:sp>
        <p:nvSpPr>
          <p:cNvPr id="14" name="Shape 11"/>
          <p:cNvSpPr/>
          <p:nvPr/>
        </p:nvSpPr>
        <p:spPr>
          <a:xfrm>
            <a:off x="4370832" y="5577840"/>
            <a:ext cx="3429000" cy="640080"/>
          </a:xfrm>
          <a:prstGeom prst="roundRect">
            <a:avLst>
              <a:gd name="adj" fmla="val 11429"/>
            </a:avLst>
          </a:prstGeom>
          <a:solidFill>
            <a:srgbClr val="F6F6F6"/>
          </a:solidFill>
          <a:ln w="12700">
            <a:solidFill>
              <a:srgbClr val="343B46"/>
            </a:solidFill>
            <a:prstDash val="solid"/>
          </a:ln>
        </p:spPr>
      </p:sp>
      <p:pic>
        <p:nvPicPr>
          <p:cNvPr id="15" name="Image 1" descr="/mnt/data/rebuild_assets/Week_2_-_Assignment(20260907-215546)/image1.png">    </p:cNvPr>
          <p:cNvPicPr>
            <a:picLocks noChangeAspect="1"/>
          </p:cNvPicPr>
          <p:nvPr/>
        </p:nvPicPr>
        <p:blipFill>
          <a:blip r:embed="rId2"/>
          <a:stretch>
            <a:fillRect/>
          </a:stretch>
        </p:blipFill>
        <p:spPr>
          <a:xfrm>
            <a:off x="4389120" y="5596128"/>
            <a:ext cx="3392424" cy="603504"/>
          </a:xfrm>
          <a:prstGeom prst="rect">
            <a:avLst/>
          </a:prstGeom>
        </p:spPr>
      </p:pic>
      <p:sp>
        <p:nvSpPr>
          <p:cNvPr id="16" name="Shape 12"/>
          <p:cNvSpPr/>
          <p:nvPr/>
        </p:nvSpPr>
        <p:spPr>
          <a:xfrm>
            <a:off x="8010144" y="5577840"/>
            <a:ext cx="3429000" cy="640080"/>
          </a:xfrm>
          <a:prstGeom prst="roundRect">
            <a:avLst>
              <a:gd name="adj" fmla="val 11429"/>
            </a:avLst>
          </a:prstGeom>
          <a:solidFill>
            <a:srgbClr val="20252E"/>
          </a:solidFill>
          <a:ln w="12700">
            <a:solidFill>
              <a:srgbClr val="343B46"/>
            </a:solidFill>
            <a:prstDash val="solid"/>
          </a:ln>
        </p:spPr>
      </p:sp>
      <p:pic>
        <p:nvPicPr>
          <p:cNvPr id="17" name="Image 2" descr="/mnt/data/rebuild_assets/Week_4_-_Assignment(20260907-215607)/image2.png">    </p:cNvPr>
          <p:cNvPicPr>
            <a:picLocks noChangeAspect="1"/>
          </p:cNvPicPr>
          <p:nvPr/>
        </p:nvPicPr>
        <p:blipFill>
          <a:blip r:embed="rId3"/>
          <a:stretch>
            <a:fillRect/>
          </a:stretch>
        </p:blipFill>
        <p:spPr>
          <a:xfrm>
            <a:off x="8028432" y="5596128"/>
            <a:ext cx="3392424" cy="603504"/>
          </a:xfrm>
          <a:prstGeom prst="rect">
            <a:avLst/>
          </a:prstGeom>
        </p:spPr>
      </p:pic>
      <p:sp>
        <p:nvSpPr>
          <p:cNvPr id="18" name="Text 13"/>
          <p:cNvSpPr/>
          <p:nvPr/>
        </p:nvSpPr>
        <p:spPr>
          <a:xfrm>
            <a:off x="1188720" y="6300216"/>
            <a:ext cx="9784080" cy="201168"/>
          </a:xfrm>
          <a:prstGeom prst="rect">
            <a:avLst/>
          </a:prstGeom>
          <a:noFill/>
          <a:ln/>
        </p:spPr>
        <p:txBody>
          <a:bodyPr wrap="square" lIns="0" tIns="0" rIns="0" bIns="0" rtlCol="0" anchor="ctr"/>
          <a:lstStyle/>
          <a:p>
            <a:pPr algn="ctr" indent="0" marL="0">
              <a:buNone/>
            </a:pPr>
            <a:r>
              <a:rPr lang="en-US" sz="920" dirty="0">
                <a:solidFill>
                  <a:srgbClr val="7E8795"/>
                </a:solidFill>
              </a:rPr>
              <a:t>Project screenshots and diagrams reproduced from the submitted Week 1–4 course assignments.</a:t>
            </a:r>
            <a:endParaRPr lang="en-US" sz="920" dirty="0"/>
          </a:p>
        </p:txBody>
      </p:sp>
      <p:sp>
        <p:nvSpPr>
          <p:cNvPr id="25" name="Slide Number Placeholder 0"/>
          <p:cNvSpPr>
            <a:spLocks noGrp="1"/>
          </p:cNvSpPr>
          <p:nvPr>
            <p:ph type="sldNum" sz="quarter" idx="4294967295"/>
          </p:nvPr>
        </p:nvSpPr>
        <p:spPr>
          <a:xfrm>
            <a:off x="11109960" y="6473952"/>
            <a:ext cx="64008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98A8"/>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Arizona Global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Course Registration System</dc:title>
  <dc:subject>CST499 Final Software Project</dc:subject>
  <dc:creator>Justin Lopez</dc:creator>
  <cp:lastModifiedBy>Justin Lopez</cp:lastModifiedBy>
  <cp:revision>1</cp:revision>
  <dcterms:created xsi:type="dcterms:W3CDTF">2026-09-07T22:04:23Z</dcterms:created>
  <dcterms:modified xsi:type="dcterms:W3CDTF">2026-09-07T22:04:23Z</dcterms:modified>
</cp:coreProperties>
</file>